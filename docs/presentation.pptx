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16d425a2-43c0-e24e-67bc-f3c0da62846f}">
          <p14:sldIdLst>
            <p14:sldId id="256"/>
          </p14:sldIdLst>
        </p14:section>
        <p14:section name="Problem &amp; Approach" id="{3148b3a3-391f-f2d7-3aab-f9ad6908f566}">
          <p14:sldIdLst>
            <p14:sldId id="257"/>
          </p14:sldIdLst>
        </p14:section>
        <p14:section name="System Design" id="{64a7739f-fe80-4002-fea1-66e4b55dbe09}">
          <p14:sldIdLst>
            <p14:sldId id="258"/>
          </p14:sldIdLst>
        </p14:section>
        <p14:section name="Implementation Highlights" id="{13896d3e-198a-9385-44b9-b7c1468c84d3}">
          <p14:sldIdLst>
            <p14:sldId id="259"/>
          </p14:sldIdLst>
        </p14:section>
        <p14:section name="Key Results" id="{41b88597-de74-7e62-21fd-47b73178cc61}">
          <p14:sldIdLst>
            <p14:sldId id="260"/>
          </p14:sldIdLst>
        </p14:section>
        <p14:section name="Domain Impact" id="{42336d5d-5e36-c298-4648-566513fba1de}">
          <p14:sldIdLst>
            <p14:sldId id="261"/>
          </p14:sldIdLst>
        </p14:section>
        <p14:section name="Limitations &amp; Next Steps" id="{c85bd8e9-1723-a486-5978-093731b397a0}">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1" i="0" u="none" strike="noStrike">
                <a:solidFill>
                  <a:srgbClr val="0B1F3A"/>
                </a:solidFill>
                <a:latin typeface="+mn-lt"/>
              </a:defRPr>
            </a:pPr>
            <a:r>
              <a:rPr sz="1200" b="1" i="0" u="none" strike="noStrike">
                <a:solidFill>
                  <a:srgbClr val="0B1F3A"/>
                </a:solidFill>
                <a:latin typeface="+mn-lt"/>
              </a:rPr>
              <a:t>Impact vs realised |abnormal return|, Spearman ρ  (2021–22 test, 3,538 ticker-days)</a:t>
            </a:r>
          </a:p>
        </c:rich>
      </c:tx>
      <c:layout/>
      <c:overlay val="0"/>
    </c:title>
    <c:autoTitleDeleted val="0"/>
    <c:plotArea>
      <c:layout/>
      <c:barChart>
        <c:barDir val="bar"/>
        <c:grouping val="clustered"/>
        <c:varyColors val="0"/>
        <c:ser>
          <c:idx val="0"/>
          <c:order val="0"/>
          <c:tx>
            <c:strRef>
              <c:f>Sheet1!$B$1</c:f>
              <c:strCache>
                <c:ptCount val="1"/>
                <c:pt idx="0">
                  <c:v>Spearman</c:v>
                </c:pt>
              </c:strCache>
            </c:strRef>
          </c:tx>
          <c:spPr>
            <a:solidFill>
              <a:srgbClr val="8A94A6"/>
            </a:solidFill>
            <a:effectLst/>
          </c:spPr>
          <c:invertIfNegative val="0"/>
          <c:dLbls>
            <c:numFmt formatCode="0.000" sourceLinked="0"/>
            <c:txPr>
              <a:bodyPr/>
              <a:lstStyle/>
              <a:p>
                <a:pPr>
                  <a:defRPr b="1" i="0" strike="noStrike" sz="1100" u="none">
                    <a:solidFill>
                      <a:srgbClr val="0B1F3A"/>
                    </a:solidFill>
                    <a:latin typeface="+mn-lt"/>
                  </a:defRPr>
                </a:pPr>
              </a:p>
            </c:txPr>
            <c:showLegendKey val="0"/>
            <c:showVal val="1"/>
            <c:showCatName val="0"/>
            <c:showSerName val="0"/>
            <c:showPercent val="0"/>
            <c:showBubbleSize val="0"/>
            <c:showLeaderLines val="0"/>
          </c:dLbls>
          <c:dPt>
            <c:idx val="0"/>
            <c:invertIfNegative val="0"/>
            <c:bubble3D val="0"/>
            <c:spPr>
              <a:solidFill>
                <a:srgbClr val="8A94A6"/>
              </a:solidFill>
              <a:effectLst/>
            </c:spPr>
          </c:dPt>
          <c:dPt>
            <c:idx val="1"/>
            <c:invertIfNegative val="0"/>
            <c:bubble3D val="0"/>
            <c:spPr>
              <a:solidFill>
                <a:srgbClr val="8A94A6"/>
              </a:solidFill>
              <a:effectLst/>
            </c:spPr>
          </c:dPt>
          <c:dPt>
            <c:idx val="2"/>
            <c:invertIfNegative val="0"/>
            <c:bubble3D val="0"/>
            <c:spPr>
              <a:solidFill>
                <a:srgbClr val="0B1F3A"/>
              </a:solidFill>
              <a:effectLst/>
            </c:spPr>
          </c:dPt>
          <c:cat>
            <c:multiLvlStrRef>
              <c:f>Sheet1!$A$2:$A$4</c:f>
              <c:multiLvlStrCache>
                <c:ptCount val="3"/>
                <c:lvl>
                  <c:pt idx="0">
                    <c:v>v1 hand-set formula</c:v>
                  </c:pt>
                  <c:pt idx="1">
                    <c:v>|sentiment| only</c:v>
                  </c:pt>
                  <c:pt idx="2">
                    <c:v>v2 learned (ours)</c:v>
                  </c:pt>
                </c:lvl>
              </c:multiLvlStrCache>
            </c:multiLvlStrRef>
          </c:cat>
          <c:val>
            <c:numRef>
              <c:f>Sheet1!$B$2:$B$4</c:f>
              <c:numCache>
                <c:formatCode>General</c:formatCode>
                <c:ptCount val="3"/>
                <c:pt idx="0">
                  <c:v>0.055</c:v>
                </c:pt>
                <c:pt idx="1">
                  <c:v>0.11</c:v>
                </c:pt>
                <c:pt idx="2">
                  <c:v>0.111</c:v>
                </c:pt>
              </c:numCache>
            </c:numRef>
          </c:val>
        </c:ser>
        <c:dLbls>
          <c:numFmt formatCode="0.000" sourceLinked="0"/>
          <c:txPr>
            <a:bodyPr/>
            <a:lstStyle/>
            <a:p>
              <a:pPr>
                <a:defRPr b="1" i="0" strike="noStrike" sz="1100" u="none">
                  <a:solidFill>
                    <a:srgbClr val="0B1F3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0.14"/>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1" i="0" u="none" strike="noStrike">
                <a:solidFill>
                  <a:srgbClr val="0B1F3A"/>
                </a:solidFill>
                <a:latin typeface="+mn-lt"/>
              </a:defRPr>
            </a:pPr>
            <a:r>
              <a:rPr sz="1200" b="1" i="0" u="none" strike="noStrike">
                <a:solidFill>
                  <a:srgbClr val="0B1F3A"/>
                </a:solidFill>
                <a:latin typeface="+mn-lt"/>
              </a:rPr>
              <a:t>Sentiment on human-labelled live news, macro-F1  (n = 237)</a:t>
            </a:r>
          </a:p>
        </c:rich>
      </c:tx>
      <c:layout/>
      <c:overlay val="0"/>
    </c:title>
    <c:autoTitleDeleted val="0"/>
    <c:plotArea>
      <c:layout/>
      <c:barChart>
        <c:barDir val="bar"/>
        <c:grouping val="clustered"/>
        <c:varyColors val="0"/>
        <c:ser>
          <c:idx val="0"/>
          <c:order val="0"/>
          <c:tx>
            <c:strRef>
              <c:f>Sheet1!$B$1</c:f>
              <c:strCache>
                <c:ptCount val="1"/>
                <c:pt idx="0">
                  <c:v>Macro-F1</c:v>
                </c:pt>
              </c:strCache>
            </c:strRef>
          </c:tx>
          <c:spPr>
            <a:solidFill>
              <a:srgbClr val="8A94A6"/>
            </a:solidFill>
            <a:effectLst/>
          </c:spPr>
          <c:invertIfNegative val="0"/>
          <c:dLbls>
            <c:numFmt formatCode="0.000" sourceLinked="0"/>
            <c:txPr>
              <a:bodyPr/>
              <a:lstStyle/>
              <a:p>
                <a:pPr>
                  <a:defRPr b="1" i="0" strike="noStrike" sz="1100" u="none">
                    <a:solidFill>
                      <a:srgbClr val="0B1F3A"/>
                    </a:solidFill>
                    <a:latin typeface="+mn-lt"/>
                  </a:defRPr>
                </a:pPr>
              </a:p>
            </c:txPr>
            <c:showLegendKey val="0"/>
            <c:showVal val="1"/>
            <c:showCatName val="0"/>
            <c:showSerName val="0"/>
            <c:showPercent val="0"/>
            <c:showBubbleSize val="0"/>
            <c:showLeaderLines val="0"/>
          </c:dLbls>
          <c:dPt>
            <c:idx val="0"/>
            <c:invertIfNegative val="0"/>
            <c:bubble3D val="0"/>
            <c:spPr>
              <a:solidFill>
                <a:srgbClr val="8A94A6"/>
              </a:solidFill>
              <a:effectLst/>
            </c:spPr>
          </c:dPt>
          <c:dPt>
            <c:idx val="1"/>
            <c:invertIfNegative val="0"/>
            <c:bubble3D val="0"/>
            <c:spPr>
              <a:solidFill>
                <a:srgbClr val="8A94A6"/>
              </a:solidFill>
              <a:effectLst/>
            </c:spPr>
          </c:dPt>
          <c:dPt>
            <c:idx val="2"/>
            <c:invertIfNegative val="0"/>
            <c:bubble3D val="0"/>
            <c:spPr>
              <a:solidFill>
                <a:srgbClr val="0B1F3A"/>
              </a:solidFill>
              <a:effectLst/>
            </c:spPr>
          </c:dPt>
          <c:cat>
            <c:multiLvlStrRef>
              <c:f>Sheet1!$A$2:$A$4</c:f>
              <c:multiLvlStrCache>
                <c:ptCount val="3"/>
                <c:lvl>
                  <c:pt idx="0">
                    <c:v>Loughran-McDonald</c:v>
                  </c:pt>
                  <c:pt idx="1">
                    <c:v>VADER</c:v>
                  </c:pt>
                  <c:pt idx="2">
                    <c:v>FinBERT (ours)</c:v>
                  </c:pt>
                </c:lvl>
              </c:multiLvlStrCache>
            </c:multiLvlStrRef>
          </c:cat>
          <c:val>
            <c:numRef>
              <c:f>Sheet1!$B$2:$B$4</c:f>
              <c:numCache>
                <c:formatCode>General</c:formatCode>
                <c:ptCount val="3"/>
                <c:pt idx="0">
                  <c:v>0.442</c:v>
                </c:pt>
                <c:pt idx="1">
                  <c:v>0.471</c:v>
                </c:pt>
                <c:pt idx="2">
                  <c:v>0.592</c:v>
                </c:pt>
              </c:numCache>
            </c:numRef>
          </c:val>
        </c:ser>
        <c:dLbls>
          <c:numFmt formatCode="0.000" sourceLinked="0"/>
          <c:txPr>
            <a:bodyPr/>
            <a:lstStyle/>
            <a:p>
              <a:pPr>
                <a:defRPr b="1" i="0" strike="noStrike" sz="1100" u="none">
                  <a:solidFill>
                    <a:srgbClr val="0B1F3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0.7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midnight UTC on 22 February 2022, RiskPulse triggered a geopolitical stress test: Russia had recognised two separatist regions of Ukraine. Six hours later it fired again on the troop order. The full-scale invasion began two days later. This came from replaying a year of real news and tweets through the system in time order, with no look-ahead. I'm Arnav Gupta from IIIT Dharwad. RiskPulse turns unstructured text into risk signals and acts on them, with both downstream modules built. Wording rule: the system flagged the escalation; never say it predicted the invasion.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Markets react to news within hours; risk teams read it in batches. A headline isn't a risk signal until it has an entity, an event type and an impact level. RiskPulse produces exactly the three fields the brief asks for: a sentiment score per company, an event class from ten types including the brief's five, and an impact score from 1 to 10 that is learned against real abnormal stock returns rather than hand-set. One signal stream feeds both modules: Module A tilts an index on sentiment, Module B stress-tests a synthetic banking book when an adverse, high-impact event appears. The brief asked for at least one module; I built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real: 203,363 documents from September 2021 to September 2022, 165,782 GDELT news headlines and 37,581 stock tweets, replayed in time order. Benzinga headlines from 2009 to 2020 are used only to train and validate the impact model. Every item is normalised and deduplicated, linked to one of 20 companies or to the market, scored for sentiment, classified into one of ten event types, grouped into stories and given an impact score. Signals are written to DuckDB and a JSONL file and served by FastAPI: REST, a live server-sent-events stream the modules subscribe to, and an /analyze endpoint that scores any headline instantly. It all runs on a laptop CPU with no paid keys; the small trained models are in the repo and the sentiment model is on the Hugging Face 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choices make this defensible. First, sentiment is scored per company, only on the sentences that mention it, and routed by source: FinBERT for news, a tweet-tuned FinBERT for tweets. The fine-tuned model scored 0.844 in-domain, but on my own labelled live news it was worse, so news stays on FinBERT. Second, impact has no ground truth, so I let the market supply it: a monotone gradient-boosting model on the seven formula drivers plus mention count, its most important input, trained on 2009 to 2018 headlines against two-day abnormal returns, with every score's drivers visible. Third, the stress engine speaks a risk team's language: duration and convexity for bonds, DV01 for swaps, PD times LGD times EAD for expected loss, and CET1 using Basel CRE20 weights, with default rates from S&amp;P's published default study. Shocks come only from episodes before September 2021, so 2022 is out-of-sample. Fourth, the tilt strength in Module A was fixed from a risk budget, never from returns, with a 5% daily turnover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is regenerated by one command, riskpulse eval all, and each is measured against a naive baseline on human-labelled or out-of-sample data, with every look at the test window logged. The learned impact score roughly doubles the hand-set formula's correlation with real abnormal returns, 0.111 against 0.055, and is on par with sentiment strength alone; I say that openly. On human-labelled live news, FinBERT scores 0.592 macro-F1 against 0.471 for VADER. Module A's information coefficient is 0.047 with a t-stat of 2.85: weak, as daily signals are, but statistically significant. Entity linking is 82% precise on 100 hand-checked links, and the pipeline handles 86.6 documents a second on a laptop CPU. On the 2022 invasion, the stress scenario got 9 of 14 market-factor directions right, using shocks calibrated only on earlier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who acts on it. For a credit or risk team, an adverse, high-impact story confirmed by at least two outlets triggers a stress test with P&amp;L, change in expected loss and CET1. On the 24 February run it predicted a loss of 10.7 million dollars on the 10-billion synthetic book and CET1 down from 13.00 to 12.98 percent, and every shock is traced to named analogues: Crimea 2014, Brexit 2016 and the Abqaiq attack. Over the next ten sessions it got 9 of 14 factor directions right, but it badly underestimated oil: 6.5% predicted against 18% realised, because the analogues mix risk-off shocks with commodity-supply shocks. For portfolio managers, Module A shows sentiment-tilted weights with the headlines behind every move. For analysts, one screen explains why a story scores 8 out of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it breaks. Two rounds of event classification, with 500 hand labels and a blind test, did not beat a keyword baseline. Market-wide impact doesn't predict market moves. The scenario underestimated the oil shock because my analogues mix risk-off with supply shocks, and the June 2022 Fed hike was missed because scheduled events are priced in: what moves markets is the surprise against consensus. Trigger precision against market stress days wasn't measured in this build. Each of these has a concrete next step. And every decision rule was written down before the test it governed, every look at the test window is logged, and weak results are reported rather than tuned away. We used 2022 to find where the method breaks, not to tune it until it looks right.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rtlCol="0"/>
          <a:lstStyle>
            <a:lvl1pPr indent="0" marL="0">
              <a:buNone/>
              <a:defRPr lang="en-US" sz="1050" b="1" spc="200" kern="0" dirty="0">
                <a:solidFill>
                  <a:schemeClr val="accent2"/>
                </a:solidFill>
                <a:latin typeface="Calibri" pitchFamily="34" charset="0"/>
                <a:ea typeface="Calibri" pitchFamily="34" charset="-122"/>
                <a:cs typeface="Calibri" pitchFamily="34" charset="-120"/>
              </a:defRPr>
            </a:lvl1pPr>
          </a:lstStyle>
          <a:p>
            <a:pPr indent="0" marL="0">
              <a:buNone/>
            </a:pPr>
            <a:endParaRPr lang="en-US" sz="1050" dirty="0"/>
          </a:p>
        </p:txBody>
      </p:sp>
      <p:sp>
        <p:nvSpPr>
          <p:cNvPr id="3" name="Text 0"/>
          <p:cNvSpPr/>
          <p:nvPr>
            <p:ph idx="101" type="title" hasCustomPrompt="1"/>
          </p:nvPr>
        </p:nvSpPr>
        <p:spPr>
          <a:xfrm>
            <a:off x="548640" y="566928"/>
            <a:ext cx="11091672" cy="822960"/>
          </a:xfrm>
          <a:prstGeom prst="rect">
            <a:avLst/>
          </a:prstGeom>
          <a:noFill/>
          <a:ln/>
        </p:spPr>
        <p:txBody>
          <a:bodyPr wrap="square" rtlCol="0"/>
          <a:lstStyle>
            <a:lvl1pPr algn="l" indent="0" marL="0">
              <a:buNone/>
              <a:defRPr lang="en-US" sz="25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500" dirty="0"/>
          </a:p>
        </p:txBody>
      </p:sp>
      <p:sp>
        <p:nvSpPr>
          <p:cNvPr id="4" name="Text 0"/>
          <p:cNvSpPr/>
          <p:nvPr/>
        </p:nvSpPr>
        <p:spPr>
          <a:xfrm>
            <a:off x="548640" y="6400800"/>
            <a:ext cx="8229600" cy="228600"/>
          </a:xfrm>
          <a:prstGeom prst="rect">
            <a:avLst/>
          </a:prstGeom>
          <a:noFill/>
          <a:ln/>
        </p:spPr>
        <p:txBody>
          <a:bodyPr wrap="square" lIns="0" tIns="0" rIns="0" bIns="0" rtlCol="0" anchor="ctr"/>
          <a:lstStyle/>
          <a:p>
            <a:pPr indent="0" marL="0">
              <a:buNone/>
            </a:pPr>
            <a:r>
              <a:rPr lang="en-US" sz="900" dirty="0">
                <a:solidFill>
                  <a:schemeClr val="accent5"/>
                </a:solidFill>
                <a:latin typeface="Calibri" pitchFamily="34" charset="0"/>
                <a:ea typeface="Calibri" pitchFamily="34" charset="-122"/>
                <a:cs typeface="Calibri" pitchFamily="34" charset="-120"/>
              </a:rPr>
              <a:t>RiskPulse  ·  Arnav Gupta, IIIT Dharwad  ·  Code to Connect 2026 (S&amp;P Global × Crisil)</a:t>
            </a:r>
            <a:endParaRPr lang="en-US" sz="9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94360"/>
            <a:ext cx="603504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CODE TO CONNECT 2026  ·  S&amp;P GLOBAL × CRISIL  ·  PHASE 3 CASE STUDY</a:t>
            </a:r>
            <a:endParaRPr lang="en-US" sz="1100" dirty="0"/>
          </a:p>
        </p:txBody>
      </p:sp>
      <p:sp>
        <p:nvSpPr>
          <p:cNvPr id="3" name="Text 1"/>
          <p:cNvSpPr txBox="1"/>
          <p:nvPr/>
        </p:nvSpPr>
        <p:spPr>
          <a:xfrm>
            <a:off x="640080" y="1005840"/>
            <a:ext cx="6035040" cy="91440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RiskPulse</a:t>
            </a:r>
            <a:endParaRPr lang="en-US" sz="5400" dirty="0"/>
          </a:p>
        </p:txBody>
      </p:sp>
      <p:sp>
        <p:nvSpPr>
          <p:cNvPr id="4" name="Text 2"/>
          <p:cNvSpPr txBox="1"/>
          <p:nvPr/>
        </p:nvSpPr>
        <p:spPr>
          <a:xfrm>
            <a:off x="640080" y="2011680"/>
            <a:ext cx="5760720" cy="1051560"/>
          </a:xfrm>
          <a:prstGeom prst="rect">
            <a:avLst/>
          </a:prstGeom>
          <a:noFill/>
          <a:ln/>
        </p:spPr>
        <p:txBody>
          <a:bodyPr wrap="square" lIns="0" tIns="0" rIns="0" bIns="0" rtlCol="0" anchor="t"/>
          <a:lstStyle/>
          <a:p>
            <a:pPr indent="0" marL="0">
              <a:buNone/>
            </a:pPr>
            <a:r>
              <a:rPr lang="en-US" sz="1800" dirty="0">
                <a:solidFill>
                  <a:schemeClr val="accent6"/>
                </a:solidFill>
              </a:rPr>
              <a:t>An AI/NLP risk engine that turns news and social posts into structured risk signals, then acts on them: a sentiment-tilted index and event-triggered stress tests.</a:t>
            </a:r>
            <a:endParaRPr lang="en-US" sz="1800" dirty="0"/>
          </a:p>
        </p:txBody>
      </p:sp>
      <p:sp>
        <p:nvSpPr>
          <p:cNvPr id="5" name="Text 3"/>
          <p:cNvSpPr txBox="1"/>
          <p:nvPr/>
        </p:nvSpPr>
        <p:spPr>
          <a:xfrm>
            <a:off x="640080" y="3520440"/>
            <a:ext cx="1828800" cy="54864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203,363</a:t>
            </a:r>
            <a:endParaRPr lang="en-US" sz="3000" dirty="0"/>
          </a:p>
        </p:txBody>
      </p:sp>
      <p:sp>
        <p:nvSpPr>
          <p:cNvPr id="6" name="Text 4"/>
          <p:cNvSpPr txBox="1"/>
          <p:nvPr/>
        </p:nvSpPr>
        <p:spPr>
          <a:xfrm>
            <a:off x="640080" y="4069080"/>
            <a:ext cx="1828800" cy="548640"/>
          </a:xfrm>
          <a:prstGeom prst="rect">
            <a:avLst/>
          </a:prstGeom>
          <a:noFill/>
          <a:ln/>
        </p:spPr>
        <p:txBody>
          <a:bodyPr wrap="square" lIns="0" tIns="0" rIns="0" bIns="0" rtlCol="0" anchor="t"/>
          <a:lstStyle/>
          <a:p>
            <a:pPr indent="0" marL="0">
              <a:buNone/>
            </a:pPr>
            <a:r>
              <a:rPr lang="en-US" sz="1150" dirty="0">
                <a:solidFill>
                  <a:schemeClr val="accent6"/>
                </a:solidFill>
              </a:rPr>
              <a:t>real news &amp; social</a:t>
            </a:r>
            <a:endParaRPr lang="en-US" sz="1150" dirty="0"/>
          </a:p>
          <a:p>
            <a:pPr indent="0" marL="0">
              <a:buNone/>
            </a:pPr>
            <a:r>
              <a:rPr lang="en-US" sz="1150" dirty="0">
                <a:solidFill>
                  <a:schemeClr val="accent6"/>
                </a:solidFill>
              </a:rPr>
              <a:t>documents, 2021–22</a:t>
            </a:r>
            <a:endParaRPr lang="en-US" sz="1150" dirty="0"/>
          </a:p>
        </p:txBody>
      </p:sp>
      <p:sp>
        <p:nvSpPr>
          <p:cNvPr id="7" name="Text 5"/>
          <p:cNvSpPr txBox="1"/>
          <p:nvPr/>
        </p:nvSpPr>
        <p:spPr>
          <a:xfrm>
            <a:off x="2606040" y="3520440"/>
            <a:ext cx="1828800" cy="54864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A + B</a:t>
            </a:r>
            <a:endParaRPr lang="en-US" sz="3000" dirty="0"/>
          </a:p>
        </p:txBody>
      </p:sp>
      <p:sp>
        <p:nvSpPr>
          <p:cNvPr id="8" name="Text 6"/>
          <p:cNvSpPr txBox="1"/>
          <p:nvPr/>
        </p:nvSpPr>
        <p:spPr>
          <a:xfrm>
            <a:off x="2606040" y="4069080"/>
            <a:ext cx="1828800" cy="548640"/>
          </a:xfrm>
          <a:prstGeom prst="rect">
            <a:avLst/>
          </a:prstGeom>
          <a:noFill/>
          <a:ln/>
        </p:spPr>
        <p:txBody>
          <a:bodyPr wrap="square" lIns="0" tIns="0" rIns="0" bIns="0" rtlCol="0" anchor="t"/>
          <a:lstStyle/>
          <a:p>
            <a:pPr indent="0" marL="0">
              <a:buNone/>
            </a:pPr>
            <a:r>
              <a:rPr lang="en-US" sz="1150" dirty="0">
                <a:solidFill>
                  <a:schemeClr val="accent6"/>
                </a:solidFill>
              </a:rPr>
              <a:t>both downstream</a:t>
            </a:r>
            <a:endParaRPr lang="en-US" sz="1150" dirty="0"/>
          </a:p>
          <a:p>
            <a:pPr indent="0" marL="0">
              <a:buNone/>
            </a:pPr>
            <a:r>
              <a:rPr lang="en-US" sz="1150" dirty="0">
                <a:solidFill>
                  <a:schemeClr val="accent6"/>
                </a:solidFill>
              </a:rPr>
              <a:t>modules built</a:t>
            </a:r>
            <a:endParaRPr lang="en-US" sz="1150" dirty="0"/>
          </a:p>
        </p:txBody>
      </p:sp>
      <p:sp>
        <p:nvSpPr>
          <p:cNvPr id="9" name="Text 7"/>
          <p:cNvSpPr txBox="1"/>
          <p:nvPr/>
        </p:nvSpPr>
        <p:spPr>
          <a:xfrm>
            <a:off x="4572000" y="3520440"/>
            <a:ext cx="1828800" cy="54864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1</a:t>
            </a:r>
            <a:endParaRPr lang="en-US" sz="3000" dirty="0"/>
          </a:p>
        </p:txBody>
      </p:sp>
      <p:sp>
        <p:nvSpPr>
          <p:cNvPr id="10" name="Text 8"/>
          <p:cNvSpPr txBox="1"/>
          <p:nvPr/>
        </p:nvSpPr>
        <p:spPr>
          <a:xfrm>
            <a:off x="4572000" y="4069080"/>
            <a:ext cx="1828800" cy="548640"/>
          </a:xfrm>
          <a:prstGeom prst="rect">
            <a:avLst/>
          </a:prstGeom>
          <a:noFill/>
          <a:ln/>
        </p:spPr>
        <p:txBody>
          <a:bodyPr wrap="square" lIns="0" tIns="0" rIns="0" bIns="0" rtlCol="0" anchor="t"/>
          <a:lstStyle/>
          <a:p>
            <a:pPr indent="0" marL="0">
              <a:buNone/>
            </a:pPr>
            <a:r>
              <a:rPr lang="en-US" sz="1150" dirty="0">
                <a:solidFill>
                  <a:schemeClr val="accent6"/>
                </a:solidFill>
              </a:rPr>
              <a:t>command to run,</a:t>
            </a:r>
            <a:endParaRPr lang="en-US" sz="1150" dirty="0"/>
          </a:p>
          <a:p>
            <a:pPr indent="0" marL="0">
              <a:buNone/>
            </a:pPr>
            <a:r>
              <a:rPr lang="en-US" sz="1150" dirty="0">
                <a:solidFill>
                  <a:schemeClr val="accent6"/>
                </a:solidFill>
              </a:rPr>
              <a:t>CPU only, no keys</a:t>
            </a:r>
            <a:endParaRPr lang="en-US" sz="1150" dirty="0"/>
          </a:p>
        </p:txBody>
      </p:sp>
      <p:sp>
        <p:nvSpPr>
          <p:cNvPr id="11" name="Text 9"/>
          <p:cNvSpPr txBox="1"/>
          <p:nvPr/>
        </p:nvSpPr>
        <p:spPr>
          <a:xfrm>
            <a:off x="640080" y="5257800"/>
            <a:ext cx="5760720" cy="731520"/>
          </a:xfrm>
          <a:prstGeom prst="rect">
            <a:avLst/>
          </a:prstGeom>
          <a:noFill/>
          <a:ln/>
        </p:spPr>
        <p:txBody>
          <a:bodyPr wrap="square" lIns="0" tIns="0" rIns="0" bIns="0" rtlCol="0" anchor="t"/>
          <a:lstStyle/>
          <a:p>
            <a:pPr indent="0" marL="0">
              <a:buNone/>
            </a:pPr>
            <a:r>
              <a:rPr lang="en-US" sz="1800" b="1" dirty="0">
                <a:solidFill>
                  <a:schemeClr val="bg1"/>
                </a:solidFill>
              </a:rPr>
              <a:t>Arnav Gupta</a:t>
            </a:r>
            <a:endParaRPr lang="en-US" sz="1800" dirty="0"/>
          </a:p>
          <a:p>
            <a:pPr indent="0" marL="0">
              <a:buNone/>
            </a:pPr>
            <a:r>
              <a:rPr lang="en-US" sz="1300" dirty="0">
                <a:solidFill>
                  <a:schemeClr val="accent6"/>
                </a:solidFill>
              </a:rPr>
              <a:t>B.Tech Data Science &amp; AI  ·  IIIT Dharwad</a:t>
            </a:r>
            <a:endParaRPr lang="en-US" sz="1800" dirty="0"/>
          </a:p>
        </p:txBody>
      </p:sp>
      <p:sp>
        <p:nvSpPr>
          <p:cNvPr id="12" name="hook-card"/>
          <p:cNvSpPr/>
          <p:nvPr/>
        </p:nvSpPr>
        <p:spPr>
          <a:xfrm>
            <a:off x="6995160" y="594360"/>
            <a:ext cx="4572000" cy="5623560"/>
          </a:xfrm>
          <a:prstGeom prst="roundRect">
            <a:avLst>
              <a:gd name="adj" fmla="val 1600"/>
            </a:avLst>
          </a:prstGeom>
          <a:solidFill>
            <a:srgbClr val="16304F"/>
          </a:solidFill>
          <a:ln/>
        </p:spPr>
      </p:sp>
      <p:sp>
        <p:nvSpPr>
          <p:cNvPr id="13" name="Text 11"/>
          <p:cNvSpPr txBox="1"/>
          <p:nvPr/>
        </p:nvSpPr>
        <p:spPr>
          <a:xfrm>
            <a:off x="7360920" y="868680"/>
            <a:ext cx="3931920" cy="256032"/>
          </a:xfrm>
          <a:prstGeom prst="rect">
            <a:avLst/>
          </a:prstGeom>
          <a:noFill/>
          <a:ln/>
        </p:spPr>
        <p:txBody>
          <a:bodyPr wrap="square" lIns="0" tIns="0" rIns="0" bIns="0" rtlCol="0" anchor="ctr"/>
          <a:lstStyle/>
          <a:p>
            <a:pPr indent="0" marL="0">
              <a:buNone/>
            </a:pPr>
            <a:r>
              <a:rPr lang="en-US" sz="1000" b="1" spc="150" kern="0" dirty="0">
                <a:solidFill>
                  <a:schemeClr val="accent2"/>
                </a:solidFill>
              </a:rPr>
              <a:t>REPLAYED IN TIME ORDER  ·  FEBRUARY 2022</a:t>
            </a:r>
            <a:endParaRPr lang="en-US" sz="1000" dirty="0"/>
          </a:p>
        </p:txBody>
      </p:sp>
      <p:sp>
        <p:nvSpPr>
          <p:cNvPr id="14" name="Text 12"/>
          <p:cNvSpPr txBox="1"/>
          <p:nvPr/>
        </p:nvSpPr>
        <p:spPr>
          <a:xfrm>
            <a:off x="7360920" y="1188720"/>
            <a:ext cx="3886200" cy="1097280"/>
          </a:xfrm>
          <a:prstGeom prst="rect">
            <a:avLst/>
          </a:prstGeom>
          <a:noFill/>
          <a:ln/>
        </p:spPr>
        <p:txBody>
          <a:bodyPr wrap="square" lIns="0" tIns="0" rIns="0" bIns="0" rtlCol="0" anchor="t"/>
          <a:lstStyle/>
          <a:p>
            <a:pPr indent="0" marL="0">
              <a:buNone/>
            </a:pPr>
            <a:r>
              <a:rPr lang="en-US" sz="2100" b="1" dirty="0">
                <a:solidFill>
                  <a:schemeClr val="bg1"/>
                </a:solidFill>
                <a:latin typeface="Cambria" pitchFamily="34" charset="0"/>
                <a:ea typeface="Cambria" pitchFamily="34" charset="-122"/>
                <a:cs typeface="Cambria" pitchFamily="34" charset="-120"/>
              </a:rPr>
              <a:t>RiskPulse flagged the escalation two days before the full invasion.</a:t>
            </a:r>
            <a:endParaRPr lang="en-US" sz="2100" dirty="0"/>
          </a:p>
        </p:txBody>
      </p:sp>
      <p:sp>
        <p:nvSpPr>
          <p:cNvPr id="15" name="Shape 13"/>
          <p:cNvSpPr/>
          <p:nvPr/>
        </p:nvSpPr>
        <p:spPr>
          <a:xfrm>
            <a:off x="7562088" y="2697480"/>
            <a:ext cx="0" cy="2377440"/>
          </a:xfrm>
          <a:prstGeom prst="line">
            <a:avLst/>
          </a:prstGeom>
          <a:noFill/>
          <a:ln w="19050">
            <a:solidFill>
              <a:srgbClr val="4D6585"/>
            </a:solidFill>
            <a:prstDash val="solid"/>
          </a:ln>
        </p:spPr>
      </p:sp>
      <p:sp>
        <p:nvSpPr>
          <p:cNvPr id="16" name="marker-22 Feb  ·  00:00 UTC"/>
          <p:cNvSpPr/>
          <p:nvPr/>
        </p:nvSpPr>
        <p:spPr>
          <a:xfrm>
            <a:off x="7434072" y="2624328"/>
            <a:ext cx="256032" cy="256032"/>
          </a:xfrm>
          <a:prstGeom prst="diamond">
            <a:avLst/>
          </a:prstGeom>
          <a:solidFill>
            <a:schemeClr val="accent2"/>
          </a:solidFill>
          <a:ln/>
        </p:spPr>
      </p:sp>
      <p:sp>
        <p:nvSpPr>
          <p:cNvPr id="17" name="Text 15"/>
          <p:cNvSpPr txBox="1"/>
          <p:nvPr/>
        </p:nvSpPr>
        <p:spPr>
          <a:xfrm>
            <a:off x="7863840" y="2560320"/>
            <a:ext cx="3474720" cy="274320"/>
          </a:xfrm>
          <a:prstGeom prst="rect">
            <a:avLst/>
          </a:prstGeom>
          <a:noFill/>
          <a:ln/>
        </p:spPr>
        <p:txBody>
          <a:bodyPr wrap="square" lIns="0" tIns="0" rIns="0" bIns="0" rtlCol="0" anchor="ctr"/>
          <a:lstStyle/>
          <a:p>
            <a:pPr indent="0" marL="0">
              <a:buNone/>
            </a:pPr>
            <a:r>
              <a:rPr lang="en-US" sz="1250" b="1" dirty="0">
                <a:solidFill>
                  <a:schemeClr val="accent2"/>
                </a:solidFill>
              </a:rPr>
              <a:t>22 Feb  ·  00:00 UTC</a:t>
            </a:r>
            <a:endParaRPr lang="en-US" sz="1250" dirty="0"/>
          </a:p>
        </p:txBody>
      </p:sp>
      <p:sp>
        <p:nvSpPr>
          <p:cNvPr id="18" name="Text 16"/>
          <p:cNvSpPr txBox="1"/>
          <p:nvPr/>
        </p:nvSpPr>
        <p:spPr>
          <a:xfrm>
            <a:off x="7863840" y="2834640"/>
            <a:ext cx="3474720" cy="548640"/>
          </a:xfrm>
          <a:prstGeom prst="rect">
            <a:avLst/>
          </a:prstGeom>
          <a:noFill/>
          <a:ln/>
        </p:spPr>
        <p:txBody>
          <a:bodyPr wrap="square" lIns="0" tIns="0" rIns="0" bIns="0" rtlCol="0" anchor="t"/>
          <a:lstStyle/>
          <a:p>
            <a:pPr indent="0" marL="0">
              <a:buNone/>
            </a:pPr>
            <a:r>
              <a:rPr lang="en-US" sz="1200" dirty="0">
                <a:solidFill>
                  <a:schemeClr val="accent6"/>
                </a:solidFill>
              </a:rPr>
              <a:t>Russia recognises separatist regions</a:t>
            </a:r>
            <a:endParaRPr lang="en-US" sz="1200" dirty="0"/>
          </a:p>
          <a:p>
            <a:pPr indent="0" marL="0">
              <a:buNone/>
            </a:pPr>
            <a:r>
              <a:rPr lang="en-US" sz="1200" dirty="0">
                <a:solidFill>
                  <a:schemeClr val="accent6"/>
                </a:solidFill>
              </a:rPr>
              <a:t>Impact 8  →  stress test fires</a:t>
            </a:r>
            <a:endParaRPr lang="en-US" sz="1200" dirty="0"/>
          </a:p>
        </p:txBody>
      </p:sp>
      <p:sp>
        <p:nvSpPr>
          <p:cNvPr id="19" name="marker-22 Feb  ·  06:00 UTC"/>
          <p:cNvSpPr/>
          <p:nvPr/>
        </p:nvSpPr>
        <p:spPr>
          <a:xfrm>
            <a:off x="7434072" y="3584448"/>
            <a:ext cx="256032" cy="256032"/>
          </a:xfrm>
          <a:prstGeom prst="diamond">
            <a:avLst/>
          </a:prstGeom>
          <a:solidFill>
            <a:schemeClr val="accent2"/>
          </a:solidFill>
          <a:ln/>
        </p:spPr>
      </p:sp>
      <p:sp>
        <p:nvSpPr>
          <p:cNvPr id="20" name="Text 18"/>
          <p:cNvSpPr txBox="1"/>
          <p:nvPr/>
        </p:nvSpPr>
        <p:spPr>
          <a:xfrm>
            <a:off x="7863840" y="3520440"/>
            <a:ext cx="3474720" cy="274320"/>
          </a:xfrm>
          <a:prstGeom prst="rect">
            <a:avLst/>
          </a:prstGeom>
          <a:noFill/>
          <a:ln/>
        </p:spPr>
        <p:txBody>
          <a:bodyPr wrap="square" lIns="0" tIns="0" rIns="0" bIns="0" rtlCol="0" anchor="ctr"/>
          <a:lstStyle/>
          <a:p>
            <a:pPr indent="0" marL="0">
              <a:buNone/>
            </a:pPr>
            <a:r>
              <a:rPr lang="en-US" sz="1250" b="1" dirty="0">
                <a:solidFill>
                  <a:schemeClr val="accent2"/>
                </a:solidFill>
              </a:rPr>
              <a:t>22 Feb  ·  06:00 UTC</a:t>
            </a:r>
            <a:endParaRPr lang="en-US" sz="1250" dirty="0"/>
          </a:p>
        </p:txBody>
      </p:sp>
      <p:sp>
        <p:nvSpPr>
          <p:cNvPr id="21" name="Text 19"/>
          <p:cNvSpPr txBox="1"/>
          <p:nvPr/>
        </p:nvSpPr>
        <p:spPr>
          <a:xfrm>
            <a:off x="7863840" y="3794760"/>
            <a:ext cx="3474720" cy="548640"/>
          </a:xfrm>
          <a:prstGeom prst="rect">
            <a:avLst/>
          </a:prstGeom>
          <a:noFill/>
          <a:ln/>
        </p:spPr>
        <p:txBody>
          <a:bodyPr wrap="square" lIns="0" tIns="0" rIns="0" bIns="0" rtlCol="0" anchor="t"/>
          <a:lstStyle/>
          <a:p>
            <a:pPr indent="0" marL="0">
              <a:buNone/>
            </a:pPr>
            <a:r>
              <a:rPr lang="en-US" sz="1200" dirty="0">
                <a:solidFill>
                  <a:schemeClr val="accent6"/>
                </a:solidFill>
              </a:rPr>
              <a:t>Troop order</a:t>
            </a:r>
            <a:endParaRPr lang="en-US" sz="1200" dirty="0"/>
          </a:p>
          <a:p>
            <a:pPr indent="0" marL="0">
              <a:buNone/>
            </a:pPr>
            <a:r>
              <a:rPr lang="en-US" sz="1200" dirty="0">
                <a:solidFill>
                  <a:schemeClr val="accent6"/>
                </a:solidFill>
              </a:rPr>
              <a:t>Impact 9  →  stress test fires again</a:t>
            </a:r>
            <a:endParaRPr lang="en-US" sz="1200" dirty="0"/>
          </a:p>
        </p:txBody>
      </p:sp>
      <p:sp>
        <p:nvSpPr>
          <p:cNvPr id="22" name="marker-24 Feb"/>
          <p:cNvSpPr/>
          <p:nvPr/>
        </p:nvSpPr>
        <p:spPr>
          <a:xfrm>
            <a:off x="7434072" y="4544568"/>
            <a:ext cx="256032" cy="256032"/>
          </a:xfrm>
          <a:prstGeom prst="diamond">
            <a:avLst/>
          </a:prstGeom>
          <a:solidFill>
            <a:schemeClr val="bg1"/>
          </a:solidFill>
          <a:ln/>
        </p:spPr>
      </p:sp>
      <p:sp>
        <p:nvSpPr>
          <p:cNvPr id="23" name="Text 21"/>
          <p:cNvSpPr txBox="1"/>
          <p:nvPr/>
        </p:nvSpPr>
        <p:spPr>
          <a:xfrm>
            <a:off x="7863840" y="4480560"/>
            <a:ext cx="3474720" cy="274320"/>
          </a:xfrm>
          <a:prstGeom prst="rect">
            <a:avLst/>
          </a:prstGeom>
          <a:noFill/>
          <a:ln/>
        </p:spPr>
        <p:txBody>
          <a:bodyPr wrap="square" lIns="0" tIns="0" rIns="0" bIns="0" rtlCol="0" anchor="ctr"/>
          <a:lstStyle/>
          <a:p>
            <a:pPr indent="0" marL="0">
              <a:buNone/>
            </a:pPr>
            <a:r>
              <a:rPr lang="en-US" sz="1250" b="1" dirty="0">
                <a:solidFill>
                  <a:schemeClr val="bg1"/>
                </a:solidFill>
              </a:rPr>
              <a:t>24 Feb</a:t>
            </a:r>
            <a:endParaRPr lang="en-US" sz="1250" dirty="0"/>
          </a:p>
        </p:txBody>
      </p:sp>
      <p:sp>
        <p:nvSpPr>
          <p:cNvPr id="24" name="Text 22"/>
          <p:cNvSpPr txBox="1"/>
          <p:nvPr/>
        </p:nvSpPr>
        <p:spPr>
          <a:xfrm>
            <a:off x="7863840" y="4754880"/>
            <a:ext cx="3474720" cy="548640"/>
          </a:xfrm>
          <a:prstGeom prst="rect">
            <a:avLst/>
          </a:prstGeom>
          <a:noFill/>
          <a:ln/>
        </p:spPr>
        <p:txBody>
          <a:bodyPr wrap="square" lIns="0" tIns="0" rIns="0" bIns="0" rtlCol="0" anchor="t"/>
          <a:lstStyle/>
          <a:p>
            <a:pPr indent="0" marL="0">
              <a:buNone/>
            </a:pPr>
            <a:r>
              <a:rPr lang="en-US" sz="1200" dirty="0">
                <a:solidFill>
                  <a:schemeClr val="accent6"/>
                </a:solidFill>
              </a:rPr>
              <a:t>Full-scale invasion begins</a:t>
            </a:r>
            <a:endParaRPr lang="en-US" sz="1200" dirty="0"/>
          </a:p>
        </p:txBody>
      </p:sp>
      <p:sp>
        <p:nvSpPr>
          <p:cNvPr id="25" name="Text 23"/>
          <p:cNvSpPr txBox="1"/>
          <p:nvPr/>
        </p:nvSpPr>
        <p:spPr>
          <a:xfrm>
            <a:off x="7360920" y="5440680"/>
            <a:ext cx="3931920" cy="548640"/>
          </a:xfrm>
          <a:prstGeom prst="rect">
            <a:avLst/>
          </a:prstGeom>
          <a:noFill/>
          <a:ln/>
        </p:spPr>
        <p:txBody>
          <a:bodyPr wrap="square" lIns="0" tIns="0" rIns="0" bIns="0" rtlCol="0" anchor="t"/>
          <a:lstStyle/>
          <a:p>
            <a:pPr indent="0" marL="0">
              <a:buNone/>
            </a:pPr>
            <a:r>
              <a:rPr lang="en-US" sz="950" i="1" dirty="0">
                <a:solidFill>
                  <a:srgbClr val="9FB0C7"/>
                </a:solidFill>
              </a:rPr>
              <a:t>Real 2021–22 news and tweets, processed in time order with no look-ahead. The stressed book is a synthetic USD 10 bn wholesale portfolio.</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050" b="1" spc="200" kern="0" dirty="0">
                <a:solidFill>
                  <a:schemeClr val="accent2"/>
                </a:solidFill>
                <a:latin typeface="Calibri" pitchFamily="34" charset="0"/>
                <a:ea typeface="Calibri" pitchFamily="34" charset="-122"/>
                <a:cs typeface="Calibri" pitchFamily="34" charset="-120"/>
              </a:rPr>
              <a:t>01   PROBLEM &amp; APPROACH</a:t>
            </a:r>
            <a:endParaRPr lang="en-US" sz="1050" dirty="0"/>
          </a:p>
        </p:txBody>
      </p:sp>
      <p:sp>
        <p:nvSpPr>
          <p:cNvPr id="3" name="Text 0"/>
          <p:cNvSpPr/>
          <p:nvPr>
            <p:ph idx="101" type="title" hasCustomPrompt="1"/>
          </p:nvPr>
        </p:nvSpPr>
        <p:spPr>
          <a:xfrm>
            <a:off x="548640" y="566928"/>
            <a:ext cx="11091672" cy="822960"/>
          </a:xfrm>
          <a:prstGeom prst="rect">
            <a:avLst/>
          </a:prstGeom>
          <a:noFill/>
          <a:ln/>
        </p:spPr>
        <p:txBody>
          <a:bodyPr wrap="square" lIns="0" tIns="0" rIns="0" bIns="0" rtlCol="0" anchor="t"/>
          <a:lstStyle/>
          <a:p>
            <a:pPr algn="l" indent="0" marL="0">
              <a:buNone/>
            </a:pPr>
            <a:r>
              <a:rPr lang="en-US" sz="2500" b="1" dirty="0">
                <a:solidFill>
                  <a:schemeClr val="tx1"/>
                </a:solidFill>
                <a:latin typeface="Cambria" pitchFamily="34" charset="0"/>
                <a:ea typeface="Cambria" pitchFamily="34" charset="-122"/>
                <a:cs typeface="Cambria" pitchFamily="34" charset="-120"/>
              </a:rPr>
              <a:t>A headline becomes a risk signal only once it has an entity, an event type and a severity</a:t>
            </a:r>
            <a:endParaRPr lang="en-US" sz="2500" dirty="0"/>
          </a:p>
        </p:txBody>
      </p:sp>
      <p:sp>
        <p:nvSpPr>
          <p:cNvPr id="4" name="Text 2"/>
          <p:cNvSpPr txBox="1"/>
          <p:nvPr/>
        </p:nvSpPr>
        <p:spPr>
          <a:xfrm>
            <a:off x="548640" y="1600200"/>
            <a:ext cx="4572000" cy="256032"/>
          </a:xfrm>
          <a:prstGeom prst="rect">
            <a:avLst/>
          </a:prstGeom>
          <a:noFill/>
          <a:ln/>
        </p:spPr>
        <p:txBody>
          <a:bodyPr wrap="square" lIns="0" tIns="0" rIns="0" bIns="0" rtlCol="0" anchor="ctr"/>
          <a:lstStyle/>
          <a:p>
            <a:pPr indent="0" marL="0">
              <a:buNone/>
            </a:pPr>
            <a:r>
              <a:rPr lang="en-US" sz="1000" b="1" spc="150" kern="0" dirty="0">
                <a:solidFill>
                  <a:schemeClr val="tx2"/>
                </a:solidFill>
              </a:rPr>
              <a:t>THE PROBLEM</a:t>
            </a:r>
            <a:endParaRPr lang="en-US" sz="1000" dirty="0"/>
          </a:p>
        </p:txBody>
      </p:sp>
      <p:sp>
        <p:nvSpPr>
          <p:cNvPr id="5" name="icon-badge-FiClock"/>
          <p:cNvSpPr/>
          <p:nvPr/>
        </p:nvSpPr>
        <p:spPr>
          <a:xfrm>
            <a:off x="548640" y="2011680"/>
            <a:ext cx="502920" cy="502920"/>
          </a:xfrm>
          <a:prstGeom prst="ellipse">
            <a:avLst/>
          </a:prstGeom>
          <a:solidFill>
            <a:schemeClr val="tx1"/>
          </a:solidFill>
          <a:ln/>
        </p:spPr>
      </p:sp>
      <p:pic>
        <p:nvPicPr>
          <p:cNvPr id="6" name="icon-FiClock" descr="preencoded.png">    </p:cNvPr>
          <p:cNvPicPr>
            <a:picLocks noChangeAspect="1"/>
          </p:cNvPicPr>
          <p:nvPr/>
        </p:nvPicPr>
        <p:blipFill>
          <a:blip r:embed="rId1"/>
          <a:stretch>
            <a:fillRect/>
          </a:stretch>
        </p:blipFill>
        <p:spPr>
          <a:xfrm>
            <a:off x="674370" y="2137410"/>
            <a:ext cx="251460" cy="251460"/>
          </a:xfrm>
          <a:prstGeom prst="rect">
            <a:avLst/>
          </a:prstGeom>
        </p:spPr>
      </p:pic>
      <p:sp>
        <p:nvSpPr>
          <p:cNvPr id="7" name="Text 4"/>
          <p:cNvSpPr txBox="1"/>
          <p:nvPr/>
        </p:nvSpPr>
        <p:spPr>
          <a:xfrm>
            <a:off x="1234440" y="1965960"/>
            <a:ext cx="3931920" cy="1097280"/>
          </a:xfrm>
          <a:prstGeom prst="rect">
            <a:avLst/>
          </a:prstGeom>
          <a:noFill/>
          <a:ln/>
        </p:spPr>
        <p:txBody>
          <a:bodyPr wrap="square" lIns="0" tIns="0" rIns="0" bIns="0" rtlCol="0" anchor="t"/>
          <a:lstStyle/>
          <a:p>
            <a:pPr indent="0" marL="0">
              <a:buNone/>
            </a:pPr>
            <a:r>
              <a:rPr lang="en-US" sz="1500" b="1" dirty="0">
                <a:solidFill>
                  <a:schemeClr val="tx1"/>
                </a:solidFill>
              </a:rPr>
              <a:t>Speed</a:t>
            </a:r>
            <a:endParaRPr lang="en-US" sz="1500" dirty="0"/>
          </a:p>
          <a:p>
            <a:pPr indent="0" marL="0">
              <a:buNone/>
            </a:pPr>
            <a:r>
              <a:rPr lang="en-US" sz="1400" dirty="0">
                <a:solidFill>
                  <a:schemeClr val="tx2"/>
                </a:solidFill>
              </a:rPr>
              <a:t>Markets reprice within hours, but risk teams still read news in batches.</a:t>
            </a:r>
            <a:endParaRPr lang="en-US" sz="1500" dirty="0"/>
          </a:p>
        </p:txBody>
      </p:sp>
      <p:sp>
        <p:nvSpPr>
          <p:cNvPr id="8" name="icon-badge-FiLayers"/>
          <p:cNvSpPr/>
          <p:nvPr/>
        </p:nvSpPr>
        <p:spPr>
          <a:xfrm>
            <a:off x="548640" y="3291840"/>
            <a:ext cx="502920" cy="502920"/>
          </a:xfrm>
          <a:prstGeom prst="ellipse">
            <a:avLst/>
          </a:prstGeom>
          <a:solidFill>
            <a:schemeClr val="tx1"/>
          </a:solidFill>
          <a:ln/>
        </p:spPr>
      </p:sp>
      <p:pic>
        <p:nvPicPr>
          <p:cNvPr id="9" name="icon-FiLayers" descr="preencoded.png">    </p:cNvPr>
          <p:cNvPicPr>
            <a:picLocks noChangeAspect="1"/>
          </p:cNvPicPr>
          <p:nvPr/>
        </p:nvPicPr>
        <p:blipFill>
          <a:blip r:embed="rId2"/>
          <a:stretch>
            <a:fillRect/>
          </a:stretch>
        </p:blipFill>
        <p:spPr>
          <a:xfrm>
            <a:off x="674370" y="3417570"/>
            <a:ext cx="251460" cy="251460"/>
          </a:xfrm>
          <a:prstGeom prst="rect">
            <a:avLst/>
          </a:prstGeom>
        </p:spPr>
      </p:pic>
      <p:sp>
        <p:nvSpPr>
          <p:cNvPr id="10" name="Text 6"/>
          <p:cNvSpPr txBox="1"/>
          <p:nvPr/>
        </p:nvSpPr>
        <p:spPr>
          <a:xfrm>
            <a:off x="1234440" y="3246120"/>
            <a:ext cx="3931920" cy="1097280"/>
          </a:xfrm>
          <a:prstGeom prst="rect">
            <a:avLst/>
          </a:prstGeom>
          <a:noFill/>
          <a:ln/>
        </p:spPr>
        <p:txBody>
          <a:bodyPr wrap="square" lIns="0" tIns="0" rIns="0" bIns="0" rtlCol="0" anchor="t"/>
          <a:lstStyle/>
          <a:p>
            <a:pPr indent="0" marL="0">
              <a:buNone/>
            </a:pPr>
            <a:r>
              <a:rPr lang="en-US" sz="1500" b="1" dirty="0">
                <a:solidFill>
                  <a:schemeClr val="tx1"/>
                </a:solidFill>
              </a:rPr>
              <a:t>Structure</a:t>
            </a:r>
            <a:endParaRPr lang="en-US" sz="1500" dirty="0"/>
          </a:p>
          <a:p>
            <a:pPr indent="0" marL="0">
              <a:buNone/>
            </a:pPr>
            <a:r>
              <a:rPr lang="en-US" sz="1400" dirty="0">
                <a:solidFill>
                  <a:schemeClr val="tx2"/>
                </a:solidFill>
              </a:rPr>
              <a:t>Raw text has no ticker, no event type and no severity, so nothing downstream can act on it.</a:t>
            </a:r>
            <a:endParaRPr lang="en-US" sz="1500" dirty="0"/>
          </a:p>
        </p:txBody>
      </p:sp>
      <p:sp>
        <p:nvSpPr>
          <p:cNvPr id="11" name="icon-badge-FiShield"/>
          <p:cNvSpPr/>
          <p:nvPr/>
        </p:nvSpPr>
        <p:spPr>
          <a:xfrm>
            <a:off x="548640" y="4572000"/>
            <a:ext cx="502920" cy="502920"/>
          </a:xfrm>
          <a:prstGeom prst="ellipse">
            <a:avLst/>
          </a:prstGeom>
          <a:solidFill>
            <a:schemeClr val="tx1"/>
          </a:solidFill>
          <a:ln/>
        </p:spPr>
      </p:sp>
      <p:pic>
        <p:nvPicPr>
          <p:cNvPr id="12" name="icon-FiShield" descr="preencoded.png">    </p:cNvPr>
          <p:cNvPicPr>
            <a:picLocks noChangeAspect="1"/>
          </p:cNvPicPr>
          <p:nvPr/>
        </p:nvPicPr>
        <p:blipFill>
          <a:blip r:embed="rId3"/>
          <a:stretch>
            <a:fillRect/>
          </a:stretch>
        </p:blipFill>
        <p:spPr>
          <a:xfrm>
            <a:off x="674370" y="4697730"/>
            <a:ext cx="251460" cy="251460"/>
          </a:xfrm>
          <a:prstGeom prst="rect">
            <a:avLst/>
          </a:prstGeom>
        </p:spPr>
      </p:pic>
      <p:sp>
        <p:nvSpPr>
          <p:cNvPr id="13" name="Text 8"/>
          <p:cNvSpPr txBox="1"/>
          <p:nvPr/>
        </p:nvSpPr>
        <p:spPr>
          <a:xfrm>
            <a:off x="1234440" y="4526280"/>
            <a:ext cx="3931920" cy="1097280"/>
          </a:xfrm>
          <a:prstGeom prst="rect">
            <a:avLst/>
          </a:prstGeom>
          <a:noFill/>
          <a:ln/>
        </p:spPr>
        <p:txBody>
          <a:bodyPr wrap="square" lIns="0" tIns="0" rIns="0" bIns="0" rtlCol="0" anchor="t"/>
          <a:lstStyle/>
          <a:p>
            <a:pPr indent="0" marL="0">
              <a:buNone/>
            </a:pPr>
            <a:r>
              <a:rPr lang="en-US" sz="1500" b="1" dirty="0">
                <a:solidFill>
                  <a:schemeClr val="tx1"/>
                </a:solidFill>
              </a:rPr>
              <a:t>Trust</a:t>
            </a:r>
            <a:endParaRPr lang="en-US" sz="1500" dirty="0"/>
          </a:p>
          <a:p>
            <a:pPr indent="0" marL="0">
              <a:buNone/>
            </a:pPr>
            <a:r>
              <a:rPr lang="en-US" sz="1400" dirty="0">
                <a:solidFill>
                  <a:schemeClr val="tx2"/>
                </a:solidFill>
              </a:rPr>
              <a:t>Credit and risk decisions need signals that are explainable, auditable and tested against baselines.</a:t>
            </a:r>
            <a:endParaRPr lang="en-US" sz="1500" dirty="0"/>
          </a:p>
        </p:txBody>
      </p:sp>
      <p:sp>
        <p:nvSpPr>
          <p:cNvPr id="14" name="Text 9"/>
          <p:cNvSpPr txBox="1"/>
          <p:nvPr/>
        </p:nvSpPr>
        <p:spPr>
          <a:xfrm>
            <a:off x="5715000" y="1600200"/>
            <a:ext cx="5486400" cy="256032"/>
          </a:xfrm>
          <a:prstGeom prst="rect">
            <a:avLst/>
          </a:prstGeom>
          <a:noFill/>
          <a:ln/>
        </p:spPr>
        <p:txBody>
          <a:bodyPr wrap="square" lIns="0" tIns="0" rIns="0" bIns="0" rtlCol="0" anchor="ctr"/>
          <a:lstStyle/>
          <a:p>
            <a:pPr indent="0" marL="0">
              <a:buNone/>
            </a:pPr>
            <a:r>
              <a:rPr lang="en-US" sz="1000" b="1" spc="150" kern="0" dirty="0">
                <a:solidFill>
                  <a:schemeClr val="tx2"/>
                </a:solidFill>
              </a:rPr>
              <a:t>THE APPROACH</a:t>
            </a:r>
            <a:endParaRPr lang="en-US" sz="1000" dirty="0"/>
          </a:p>
        </p:txBody>
      </p:sp>
      <p:sp>
        <p:nvSpPr>
          <p:cNvPr id="15" name="engine-card"/>
          <p:cNvSpPr/>
          <p:nvPr/>
        </p:nvSpPr>
        <p:spPr>
          <a:xfrm>
            <a:off x="5715000" y="1965960"/>
            <a:ext cx="5925312" cy="2103120"/>
          </a:xfrm>
          <a:prstGeom prst="roundRect">
            <a:avLst>
              <a:gd name="adj" fmla="val 2609"/>
            </a:avLst>
          </a:prstGeom>
          <a:solidFill>
            <a:schemeClr val="bg2"/>
          </a:solidFill>
          <a:ln/>
        </p:spPr>
      </p:sp>
      <p:sp>
        <p:nvSpPr>
          <p:cNvPr id="16" name="Text 11"/>
          <p:cNvSpPr txBox="1"/>
          <p:nvPr/>
        </p:nvSpPr>
        <p:spPr>
          <a:xfrm>
            <a:off x="5943600" y="2103120"/>
            <a:ext cx="5486400" cy="320040"/>
          </a:xfrm>
          <a:prstGeom prst="rect">
            <a:avLst/>
          </a:prstGeom>
          <a:noFill/>
          <a:ln/>
        </p:spPr>
        <p:txBody>
          <a:bodyPr wrap="square" lIns="0" tIns="0" rIns="0" bIns="0" rtlCol="0" anchor="ctr"/>
          <a:lstStyle/>
          <a:p>
            <a:pPr indent="0" marL="0">
              <a:buNone/>
            </a:pPr>
            <a:r>
              <a:rPr lang="en-US" sz="1400" b="1" dirty="0">
                <a:solidFill>
                  <a:schemeClr val="tx1"/>
                </a:solidFill>
              </a:rPr>
              <a:t>AI/NLP Risk Engine  ·  three fields per signal</a:t>
            </a:r>
            <a:endParaRPr lang="en-US" sz="1400" dirty="0"/>
          </a:p>
        </p:txBody>
      </p:sp>
      <p:sp>
        <p:nvSpPr>
          <p:cNvPr id="17" name="field-Sentiment"/>
          <p:cNvSpPr/>
          <p:nvPr/>
        </p:nvSpPr>
        <p:spPr>
          <a:xfrm>
            <a:off x="5943600" y="2560320"/>
            <a:ext cx="1719072" cy="804672"/>
          </a:xfrm>
          <a:prstGeom prst="roundRect">
            <a:avLst>
              <a:gd name="adj" fmla="val 5682"/>
            </a:avLst>
          </a:prstGeom>
          <a:solidFill>
            <a:schemeClr val="bg1"/>
          </a:solidFill>
          <a:ln w="9525">
            <a:solidFill>
              <a:schemeClr val="accent6"/>
            </a:solidFill>
            <a:prstDash val="solid"/>
          </a:ln>
        </p:spPr>
      </p:sp>
      <p:sp>
        <p:nvSpPr>
          <p:cNvPr id="18" name="Text 13"/>
          <p:cNvSpPr txBox="1"/>
          <p:nvPr/>
        </p:nvSpPr>
        <p:spPr>
          <a:xfrm>
            <a:off x="6053328" y="2615184"/>
            <a:ext cx="1536192" cy="822960"/>
          </a:xfrm>
          <a:prstGeom prst="rect">
            <a:avLst/>
          </a:prstGeom>
          <a:noFill/>
          <a:ln/>
        </p:spPr>
        <p:txBody>
          <a:bodyPr wrap="square" lIns="0" tIns="0" rIns="0" bIns="0" rtlCol="0" anchor="t"/>
          <a:lstStyle/>
          <a:p>
            <a:pPr indent="0" marL="0">
              <a:buNone/>
            </a:pPr>
            <a:r>
              <a:rPr lang="en-US" sz="1300" b="1" dirty="0">
                <a:solidFill>
                  <a:schemeClr val="tx1"/>
                </a:solidFill>
              </a:rPr>
              <a:t>Sentiment</a:t>
            </a:r>
            <a:endParaRPr lang="en-US" sz="1300" dirty="0"/>
          </a:p>
          <a:p>
            <a:pPr indent="0" marL="0">
              <a:buNone/>
            </a:pPr>
            <a:r>
              <a:rPr lang="en-US" sz="1100" dirty="0">
                <a:solidFill>
                  <a:schemeClr val="tx2"/>
                </a:solidFill>
              </a:rPr>
              <a:t>−1 to +1,</a:t>
            </a:r>
            <a:endParaRPr lang="en-US" sz="1300" dirty="0"/>
          </a:p>
          <a:p>
            <a:pPr indent="0" marL="0">
              <a:buNone/>
            </a:pPr>
            <a:r>
              <a:rPr lang="en-US" sz="1100" dirty="0">
                <a:solidFill>
                  <a:schemeClr val="tx2"/>
                </a:solidFill>
              </a:rPr>
              <a:t>scored per company</a:t>
            </a:r>
            <a:endParaRPr lang="en-US" sz="1300" dirty="0"/>
          </a:p>
        </p:txBody>
      </p:sp>
      <p:sp>
        <p:nvSpPr>
          <p:cNvPr id="19" name="field-Event class"/>
          <p:cNvSpPr/>
          <p:nvPr/>
        </p:nvSpPr>
        <p:spPr>
          <a:xfrm>
            <a:off x="7799832" y="2560320"/>
            <a:ext cx="1719072" cy="804672"/>
          </a:xfrm>
          <a:prstGeom prst="roundRect">
            <a:avLst>
              <a:gd name="adj" fmla="val 5682"/>
            </a:avLst>
          </a:prstGeom>
          <a:solidFill>
            <a:schemeClr val="bg1"/>
          </a:solidFill>
          <a:ln w="9525">
            <a:solidFill>
              <a:schemeClr val="accent6"/>
            </a:solidFill>
            <a:prstDash val="solid"/>
          </a:ln>
        </p:spPr>
      </p:sp>
      <p:sp>
        <p:nvSpPr>
          <p:cNvPr id="20" name="Text 15"/>
          <p:cNvSpPr txBox="1"/>
          <p:nvPr/>
        </p:nvSpPr>
        <p:spPr>
          <a:xfrm>
            <a:off x="7909560" y="2615184"/>
            <a:ext cx="1536192" cy="822960"/>
          </a:xfrm>
          <a:prstGeom prst="rect">
            <a:avLst/>
          </a:prstGeom>
          <a:noFill/>
          <a:ln/>
        </p:spPr>
        <p:txBody>
          <a:bodyPr wrap="square" lIns="0" tIns="0" rIns="0" bIns="0" rtlCol="0" anchor="t"/>
          <a:lstStyle/>
          <a:p>
            <a:pPr indent="0" marL="0">
              <a:buNone/>
            </a:pPr>
            <a:r>
              <a:rPr lang="en-US" sz="1300" b="1" dirty="0">
                <a:solidFill>
                  <a:schemeClr val="tx1"/>
                </a:solidFill>
              </a:rPr>
              <a:t>Event class</a:t>
            </a:r>
            <a:endParaRPr lang="en-US" sz="1300" dirty="0"/>
          </a:p>
          <a:p>
            <a:pPr indent="0" marL="0">
              <a:buNone/>
            </a:pPr>
            <a:r>
              <a:rPr lang="en-US" sz="1100" dirty="0">
                <a:solidFill>
                  <a:schemeClr val="tx2"/>
                </a:solidFill>
              </a:rPr>
              <a:t>10 types, incl. the</a:t>
            </a:r>
            <a:endParaRPr lang="en-US" sz="1300" dirty="0"/>
          </a:p>
          <a:p>
            <a:pPr indent="0" marL="0">
              <a:buNone/>
            </a:pPr>
            <a:r>
              <a:rPr lang="en-US" sz="1100" dirty="0">
                <a:solidFill>
                  <a:schemeClr val="tx2"/>
                </a:solidFill>
              </a:rPr>
              <a:t>brief's five</a:t>
            </a:r>
            <a:endParaRPr lang="en-US" sz="1300" dirty="0"/>
          </a:p>
        </p:txBody>
      </p:sp>
      <p:sp>
        <p:nvSpPr>
          <p:cNvPr id="21" name="field-Impact"/>
          <p:cNvSpPr/>
          <p:nvPr/>
        </p:nvSpPr>
        <p:spPr>
          <a:xfrm>
            <a:off x="9656064" y="2560320"/>
            <a:ext cx="1719072" cy="804672"/>
          </a:xfrm>
          <a:prstGeom prst="roundRect">
            <a:avLst>
              <a:gd name="adj" fmla="val 5682"/>
            </a:avLst>
          </a:prstGeom>
          <a:solidFill>
            <a:schemeClr val="bg1"/>
          </a:solidFill>
          <a:ln w="9525">
            <a:solidFill>
              <a:schemeClr val="accent6"/>
            </a:solidFill>
            <a:prstDash val="solid"/>
          </a:ln>
        </p:spPr>
      </p:sp>
      <p:sp>
        <p:nvSpPr>
          <p:cNvPr id="22" name="Text 17"/>
          <p:cNvSpPr txBox="1"/>
          <p:nvPr/>
        </p:nvSpPr>
        <p:spPr>
          <a:xfrm>
            <a:off x="9765792" y="2615184"/>
            <a:ext cx="1536192" cy="822960"/>
          </a:xfrm>
          <a:prstGeom prst="rect">
            <a:avLst/>
          </a:prstGeom>
          <a:noFill/>
          <a:ln/>
        </p:spPr>
        <p:txBody>
          <a:bodyPr wrap="square" lIns="0" tIns="0" rIns="0" bIns="0" rtlCol="0" anchor="t"/>
          <a:lstStyle/>
          <a:p>
            <a:pPr indent="0" marL="0">
              <a:buNone/>
            </a:pPr>
            <a:r>
              <a:rPr lang="en-US" sz="1300" b="1" dirty="0">
                <a:solidFill>
                  <a:schemeClr val="tx1"/>
                </a:solidFill>
              </a:rPr>
              <a:t>Impact</a:t>
            </a:r>
            <a:endParaRPr lang="en-US" sz="1300" dirty="0"/>
          </a:p>
          <a:p>
            <a:pPr indent="0" marL="0">
              <a:buNone/>
            </a:pPr>
            <a:r>
              <a:rPr lang="en-US" sz="1100" dirty="0">
                <a:solidFill>
                  <a:schemeClr val="tx2"/>
                </a:solidFill>
              </a:rPr>
              <a:t>1–10, learned from</a:t>
            </a:r>
            <a:endParaRPr lang="en-US" sz="1300" dirty="0"/>
          </a:p>
          <a:p>
            <a:pPr indent="0" marL="0">
              <a:buNone/>
            </a:pPr>
            <a:r>
              <a:rPr lang="en-US" sz="1100" dirty="0">
                <a:solidFill>
                  <a:schemeClr val="tx2"/>
                </a:solidFill>
              </a:rPr>
              <a:t>abnormal returns</a:t>
            </a:r>
            <a:endParaRPr lang="en-US" sz="1300" dirty="0"/>
          </a:p>
        </p:txBody>
      </p:sp>
      <p:sp>
        <p:nvSpPr>
          <p:cNvPr id="23" name="Text 18"/>
          <p:cNvSpPr txBox="1"/>
          <p:nvPr/>
        </p:nvSpPr>
        <p:spPr>
          <a:xfrm>
            <a:off x="5943600" y="3474720"/>
            <a:ext cx="5532120" cy="502920"/>
          </a:xfrm>
          <a:prstGeom prst="rect">
            <a:avLst/>
          </a:prstGeom>
          <a:noFill/>
          <a:ln/>
        </p:spPr>
        <p:txBody>
          <a:bodyPr wrap="square" lIns="0" tIns="0" rIns="0" bIns="0" rtlCol="0" anchor="t"/>
          <a:lstStyle/>
          <a:p>
            <a:pPr indent="0" marL="0">
              <a:buNone/>
            </a:pPr>
            <a:r>
              <a:rPr lang="en-US" sz="1100" i="1" dirty="0">
                <a:solidFill>
                  <a:schemeClr val="tx2"/>
                </a:solidFill>
              </a:rPr>
              <a:t>e.g. “Exxon posts record quarterly profit while Chevron cuts its outlook”</a:t>
            </a:r>
            <a:endParaRPr lang="en-US" sz="1100" dirty="0"/>
          </a:p>
          <a:p>
            <a:pPr indent="0" marL="0">
              <a:buNone/>
            </a:pPr>
            <a:r>
              <a:rPr lang="en-US" sz="1100" i="1" dirty="0">
                <a:solidFill>
                  <a:schemeClr val="tx2"/>
                </a:solidFill>
              </a:rPr>
              <a:t>→  </a:t>
            </a:r>
            <a:pPr indent="0" marL="0">
              <a:buNone/>
            </a:pPr>
            <a:r>
              <a:rPr lang="en-US" sz="1100" b="1" i="1" dirty="0">
                <a:solidFill>
                  <a:schemeClr val="accent4"/>
                </a:solidFill>
              </a:rPr>
              <a:t>XOM +0.64</a:t>
            </a:r>
            <a:pPr indent="0" marL="0">
              <a:buNone/>
            </a:pPr>
            <a:r>
              <a:rPr lang="en-US" sz="1100" i="1" dirty="0">
                <a:solidFill>
                  <a:schemeClr val="tx2"/>
                </a:solidFill>
              </a:rPr>
              <a:t>,  </a:t>
            </a:r>
            <a:pPr indent="0" marL="0">
              <a:buNone/>
            </a:pPr>
            <a:r>
              <a:rPr lang="en-US" sz="1100" b="1" i="1" dirty="0">
                <a:solidFill>
                  <a:schemeClr val="accent3"/>
                </a:solidFill>
              </a:rPr>
              <a:t>CVX −0.94</a:t>
            </a:r>
            <a:pPr indent="0" marL="0">
              <a:buNone/>
            </a:pPr>
            <a:r>
              <a:rPr lang="en-US" sz="1100" i="1" dirty="0">
                <a:solidFill>
                  <a:schemeClr val="tx2"/>
                </a:solidFill>
              </a:rPr>
              <a:t>   (a whole-sentence score of −0.95 would misread Exxon)</a:t>
            </a:r>
            <a:endParaRPr lang="en-US" sz="1100" dirty="0"/>
          </a:p>
        </p:txBody>
      </p:sp>
      <p:sp>
        <p:nvSpPr>
          <p:cNvPr id="24" name="Shape 19"/>
          <p:cNvSpPr/>
          <p:nvPr/>
        </p:nvSpPr>
        <p:spPr>
          <a:xfrm>
            <a:off x="7269480" y="4114800"/>
            <a:ext cx="0" cy="384048"/>
          </a:xfrm>
          <a:prstGeom prst="line">
            <a:avLst/>
          </a:prstGeom>
          <a:noFill/>
          <a:ln w="19050">
            <a:solidFill>
              <a:schemeClr val="accent5"/>
            </a:solidFill>
            <a:prstDash val="solid"/>
            <a:tailEnd type="triangle"/>
          </a:ln>
        </p:spPr>
      </p:sp>
      <p:sp>
        <p:nvSpPr>
          <p:cNvPr id="25" name="Shape 20"/>
          <p:cNvSpPr/>
          <p:nvPr/>
        </p:nvSpPr>
        <p:spPr>
          <a:xfrm>
            <a:off x="10104120" y="4114800"/>
            <a:ext cx="0" cy="384048"/>
          </a:xfrm>
          <a:prstGeom prst="line">
            <a:avLst/>
          </a:prstGeom>
          <a:noFill/>
          <a:ln w="19050">
            <a:solidFill>
              <a:schemeClr val="accent5"/>
            </a:solidFill>
            <a:prstDash val="solid"/>
            <a:tailEnd type="triangle"/>
          </a:ln>
        </p:spPr>
      </p:sp>
      <p:sp>
        <p:nvSpPr>
          <p:cNvPr id="26" name="module-0"/>
          <p:cNvSpPr/>
          <p:nvPr/>
        </p:nvSpPr>
        <p:spPr>
          <a:xfrm>
            <a:off x="5715000" y="4572000"/>
            <a:ext cx="2889504" cy="1188720"/>
          </a:xfrm>
          <a:prstGeom prst="roundRect">
            <a:avLst>
              <a:gd name="adj" fmla="val 4615"/>
            </a:avLst>
          </a:prstGeom>
          <a:solidFill>
            <a:schemeClr val="tx1"/>
          </a:solidFill>
          <a:ln/>
        </p:spPr>
      </p:sp>
      <p:sp>
        <p:nvSpPr>
          <p:cNvPr id="27" name="Text 22"/>
          <p:cNvSpPr txBox="1"/>
          <p:nvPr/>
        </p:nvSpPr>
        <p:spPr>
          <a:xfrm>
            <a:off x="5879592" y="4663440"/>
            <a:ext cx="2606040" cy="1261872"/>
          </a:xfrm>
          <a:prstGeom prst="rect">
            <a:avLst/>
          </a:prstGeom>
          <a:noFill/>
          <a:ln/>
        </p:spPr>
        <p:txBody>
          <a:bodyPr wrap="square" lIns="0" tIns="0" rIns="0" bIns="0" rtlCol="0" anchor="t"/>
          <a:lstStyle/>
          <a:p>
            <a:pPr indent="0" marL="0">
              <a:spcAft>
                <a:spcPts val="300"/>
              </a:spcAft>
              <a:buNone/>
            </a:pPr>
            <a:r>
              <a:rPr lang="en-US" sz="1350" b="1" dirty="0">
                <a:solidFill>
                  <a:schemeClr val="bg1"/>
                </a:solidFill>
              </a:rPr>
              <a:t>Module A  ·  Tactical</a:t>
            </a:r>
            <a:endParaRPr lang="en-US" sz="1350" dirty="0"/>
          </a:p>
          <a:p>
            <a:pPr indent="0" marL="0">
              <a:spcAft>
                <a:spcPts val="300"/>
              </a:spcAft>
              <a:buNone/>
            </a:pPr>
            <a:r>
              <a:rPr lang="en-US" sz="1000" b="1" dirty="0">
                <a:solidFill>
                  <a:schemeClr val="accent2"/>
                </a:solidFill>
              </a:rPr>
              <a:t>subscribes to sentiment</a:t>
            </a:r>
            <a:endParaRPr lang="en-US" sz="1350" dirty="0"/>
          </a:p>
          <a:p>
            <a:pPr indent="0" marL="0">
              <a:spcAft>
                <a:spcPts val="300"/>
              </a:spcAft>
              <a:buNone/>
            </a:pPr>
            <a:r>
              <a:rPr lang="en-US" sz="1100" dirty="0">
                <a:solidFill>
                  <a:schemeClr val="accent6"/>
                </a:solidFill>
              </a:rPr>
              <a:t>Sentiment-tilted index of 20 S&amp;P 100 stocks, rebalanced as news arrives.</a:t>
            </a:r>
            <a:endParaRPr lang="en-US" sz="1350" dirty="0"/>
          </a:p>
        </p:txBody>
      </p:sp>
      <p:sp>
        <p:nvSpPr>
          <p:cNvPr id="28" name="module-1"/>
          <p:cNvSpPr/>
          <p:nvPr/>
        </p:nvSpPr>
        <p:spPr>
          <a:xfrm>
            <a:off x="8750808" y="4572000"/>
            <a:ext cx="2889504" cy="1188720"/>
          </a:xfrm>
          <a:prstGeom prst="roundRect">
            <a:avLst>
              <a:gd name="adj" fmla="val 4615"/>
            </a:avLst>
          </a:prstGeom>
          <a:solidFill>
            <a:schemeClr val="tx1"/>
          </a:solidFill>
          <a:ln/>
        </p:spPr>
      </p:sp>
      <p:sp>
        <p:nvSpPr>
          <p:cNvPr id="29" name="Text 24"/>
          <p:cNvSpPr txBox="1"/>
          <p:nvPr/>
        </p:nvSpPr>
        <p:spPr>
          <a:xfrm>
            <a:off x="8915400" y="4663440"/>
            <a:ext cx="2606040" cy="1261872"/>
          </a:xfrm>
          <a:prstGeom prst="rect">
            <a:avLst/>
          </a:prstGeom>
          <a:noFill/>
          <a:ln/>
        </p:spPr>
        <p:txBody>
          <a:bodyPr wrap="square" lIns="0" tIns="0" rIns="0" bIns="0" rtlCol="0" anchor="t"/>
          <a:lstStyle/>
          <a:p>
            <a:pPr indent="0" marL="0">
              <a:spcAft>
                <a:spcPts val="300"/>
              </a:spcAft>
              <a:buNone/>
            </a:pPr>
            <a:r>
              <a:rPr lang="en-US" sz="1350" b="1" dirty="0">
                <a:solidFill>
                  <a:schemeClr val="bg1"/>
                </a:solidFill>
              </a:rPr>
              <a:t>Module B  ·  Strategic</a:t>
            </a:r>
            <a:endParaRPr lang="en-US" sz="1350" dirty="0"/>
          </a:p>
          <a:p>
            <a:pPr indent="0" marL="0">
              <a:spcAft>
                <a:spcPts val="300"/>
              </a:spcAft>
              <a:buNone/>
            </a:pPr>
            <a:r>
              <a:rPr lang="en-US" sz="1000" b="1" dirty="0">
                <a:solidFill>
                  <a:schemeClr val="accent2"/>
                </a:solidFill>
              </a:rPr>
              <a:t>subscribes to event class + impact</a:t>
            </a:r>
            <a:endParaRPr lang="en-US" sz="1350" dirty="0"/>
          </a:p>
          <a:p>
            <a:pPr indent="0" marL="0">
              <a:spcAft>
                <a:spcPts val="300"/>
              </a:spcAft>
              <a:buNone/>
            </a:pPr>
            <a:r>
              <a:rPr lang="en-US" sz="1100" dirty="0">
                <a:solidFill>
                  <a:schemeClr val="accent6"/>
                </a:solidFill>
              </a:rPr>
              <a:t>Adverse, high-impact events trigger stress tests on a USD 10 bn synthetic wholesale book.</a:t>
            </a:r>
            <a:endParaRPr lang="en-US" sz="135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050" b="1" spc="200" kern="0" dirty="0">
                <a:solidFill>
                  <a:schemeClr val="accent2"/>
                </a:solidFill>
                <a:latin typeface="Calibri" pitchFamily="34" charset="0"/>
                <a:ea typeface="Calibri" pitchFamily="34" charset="-122"/>
                <a:cs typeface="Calibri" pitchFamily="34" charset="-120"/>
              </a:rPr>
              <a:t>02   SYSTEM DESIGN</a:t>
            </a:r>
            <a:endParaRPr lang="en-US" sz="1050" dirty="0"/>
          </a:p>
        </p:txBody>
      </p:sp>
      <p:sp>
        <p:nvSpPr>
          <p:cNvPr id="3" name="Text 0"/>
          <p:cNvSpPr/>
          <p:nvPr>
            <p:ph idx="101" type="title" hasCustomPrompt="1"/>
          </p:nvPr>
        </p:nvSpPr>
        <p:spPr>
          <a:xfrm>
            <a:off x="548640" y="566928"/>
            <a:ext cx="11091672" cy="822960"/>
          </a:xfrm>
          <a:prstGeom prst="rect">
            <a:avLst/>
          </a:prstGeom>
          <a:noFill/>
          <a:ln/>
        </p:spPr>
        <p:txBody>
          <a:bodyPr wrap="square" lIns="0" tIns="0" rIns="0" bIns="0" rtlCol="0" anchor="t"/>
          <a:lstStyle/>
          <a:p>
            <a:pPr algn="l" indent="0" marL="0">
              <a:buNone/>
            </a:pPr>
            <a:r>
              <a:rPr lang="en-US" sz="2500" b="1" dirty="0">
                <a:solidFill>
                  <a:schemeClr val="tx1"/>
                </a:solidFill>
                <a:latin typeface="Cambria" pitchFamily="34" charset="0"/>
                <a:ea typeface="Cambria" pitchFamily="34" charset="-122"/>
                <a:cs typeface="Cambria" pitchFamily="34" charset="-120"/>
              </a:rPr>
              <a:t>One engine, two consumers: a reproducible pipeline from raw text to stress test on a laptop CPU</a:t>
            </a:r>
            <a:endParaRPr lang="en-US" sz="2500" dirty="0"/>
          </a:p>
        </p:txBody>
      </p:sp>
      <p:sp>
        <p:nvSpPr>
          <p:cNvPr id="4" name="Text 2"/>
          <p:cNvSpPr txBox="1"/>
          <p:nvPr/>
        </p:nvSpPr>
        <p:spPr>
          <a:xfrm>
            <a:off x="548640" y="1463040"/>
            <a:ext cx="1874520" cy="256032"/>
          </a:xfrm>
          <a:prstGeom prst="rect">
            <a:avLst/>
          </a:prstGeom>
          <a:noFill/>
          <a:ln/>
        </p:spPr>
        <p:txBody>
          <a:bodyPr wrap="square" lIns="0" tIns="0" rIns="0" bIns="0" rtlCol="0" anchor="ctr"/>
          <a:lstStyle/>
          <a:p>
            <a:pPr indent="0" marL="0">
              <a:buNone/>
            </a:pPr>
            <a:r>
              <a:rPr lang="en-US" sz="1000" b="1" spc="150" kern="0" dirty="0">
                <a:solidFill>
                  <a:schemeClr val="accent2"/>
                </a:solidFill>
              </a:rPr>
              <a:t>SOURCES</a:t>
            </a:r>
            <a:endParaRPr lang="en-US" sz="1000" dirty="0"/>
          </a:p>
        </p:txBody>
      </p:sp>
      <p:sp>
        <p:nvSpPr>
          <p:cNvPr id="5" name="Text 3"/>
          <p:cNvSpPr txBox="1"/>
          <p:nvPr/>
        </p:nvSpPr>
        <p:spPr>
          <a:xfrm>
            <a:off x="2743200" y="1463040"/>
            <a:ext cx="1691640" cy="256032"/>
          </a:xfrm>
          <a:prstGeom prst="rect">
            <a:avLst/>
          </a:prstGeom>
          <a:noFill/>
          <a:ln/>
        </p:spPr>
        <p:txBody>
          <a:bodyPr wrap="square" lIns="0" tIns="0" rIns="0" bIns="0" rtlCol="0" anchor="ctr"/>
          <a:lstStyle/>
          <a:p>
            <a:pPr indent="0" marL="0">
              <a:buNone/>
            </a:pPr>
            <a:r>
              <a:rPr lang="en-US" sz="1000" b="1" spc="150" kern="0" dirty="0">
                <a:solidFill>
                  <a:schemeClr val="accent2"/>
                </a:solidFill>
              </a:rPr>
              <a:t>INGEST</a:t>
            </a:r>
            <a:endParaRPr lang="en-US" sz="1000" dirty="0"/>
          </a:p>
        </p:txBody>
      </p:sp>
      <p:sp>
        <p:nvSpPr>
          <p:cNvPr id="6" name="Text 4"/>
          <p:cNvSpPr txBox="1"/>
          <p:nvPr/>
        </p:nvSpPr>
        <p:spPr>
          <a:xfrm>
            <a:off x="4754880" y="1463040"/>
            <a:ext cx="2880360" cy="256032"/>
          </a:xfrm>
          <a:prstGeom prst="rect">
            <a:avLst/>
          </a:prstGeom>
          <a:noFill/>
          <a:ln/>
        </p:spPr>
        <p:txBody>
          <a:bodyPr wrap="square" lIns="0" tIns="0" rIns="0" bIns="0" rtlCol="0" anchor="ctr"/>
          <a:lstStyle/>
          <a:p>
            <a:pPr indent="0" marL="0">
              <a:buNone/>
            </a:pPr>
            <a:r>
              <a:rPr lang="en-US" sz="1000" b="1" spc="150" kern="0" dirty="0">
                <a:solidFill>
                  <a:schemeClr val="accent2"/>
                </a:solidFill>
              </a:rPr>
              <a:t>NLP RISK ENGINE</a:t>
            </a:r>
            <a:endParaRPr lang="en-US" sz="1000" dirty="0"/>
          </a:p>
        </p:txBody>
      </p:sp>
      <p:sp>
        <p:nvSpPr>
          <p:cNvPr id="7" name="Text 5"/>
          <p:cNvSpPr txBox="1"/>
          <p:nvPr/>
        </p:nvSpPr>
        <p:spPr>
          <a:xfrm>
            <a:off x="7955280" y="1463040"/>
            <a:ext cx="1691640" cy="256032"/>
          </a:xfrm>
          <a:prstGeom prst="rect">
            <a:avLst/>
          </a:prstGeom>
          <a:noFill/>
          <a:ln/>
        </p:spPr>
        <p:txBody>
          <a:bodyPr wrap="square" lIns="0" tIns="0" rIns="0" bIns="0" rtlCol="0" anchor="ctr"/>
          <a:lstStyle/>
          <a:p>
            <a:pPr indent="0" marL="0">
              <a:buNone/>
            </a:pPr>
            <a:r>
              <a:rPr lang="en-US" sz="1000" b="1" spc="150" kern="0" dirty="0">
                <a:solidFill>
                  <a:schemeClr val="accent2"/>
                </a:solidFill>
              </a:rPr>
              <a:t>SERVE</a:t>
            </a:r>
            <a:endParaRPr lang="en-US" sz="1000" dirty="0"/>
          </a:p>
        </p:txBody>
      </p:sp>
      <p:sp>
        <p:nvSpPr>
          <p:cNvPr id="8" name="Text 6"/>
          <p:cNvSpPr txBox="1"/>
          <p:nvPr/>
        </p:nvSpPr>
        <p:spPr>
          <a:xfrm>
            <a:off x="9966960" y="1463040"/>
            <a:ext cx="1673352" cy="256032"/>
          </a:xfrm>
          <a:prstGeom prst="rect">
            <a:avLst/>
          </a:prstGeom>
          <a:noFill/>
          <a:ln/>
        </p:spPr>
        <p:txBody>
          <a:bodyPr wrap="square" lIns="0" tIns="0" rIns="0" bIns="0" rtlCol="0" anchor="ctr"/>
          <a:lstStyle/>
          <a:p>
            <a:pPr indent="0" marL="0">
              <a:buNone/>
            </a:pPr>
            <a:r>
              <a:rPr lang="en-US" sz="1000" b="1" spc="150" kern="0" dirty="0">
                <a:solidFill>
                  <a:schemeClr val="accent2"/>
                </a:solidFill>
              </a:rPr>
              <a:t>CONSUMERS</a:t>
            </a:r>
            <a:endParaRPr lang="en-US" sz="1000" dirty="0"/>
          </a:p>
        </p:txBody>
      </p:sp>
      <p:sp>
        <p:nvSpPr>
          <p:cNvPr id="9" name="box-GDELT news"/>
          <p:cNvSpPr/>
          <p:nvPr/>
        </p:nvSpPr>
        <p:spPr>
          <a:xfrm>
            <a:off x="548640" y="1783080"/>
            <a:ext cx="1874520" cy="1051560"/>
          </a:xfrm>
          <a:prstGeom prst="roundRect">
            <a:avLst>
              <a:gd name="adj" fmla="val 4348"/>
            </a:avLst>
          </a:prstGeom>
          <a:solidFill>
            <a:schemeClr val="bg2"/>
          </a:solidFill>
          <a:ln/>
        </p:spPr>
      </p:sp>
      <p:sp>
        <p:nvSpPr>
          <p:cNvPr id="10" name="Text 8"/>
          <p:cNvSpPr txBox="1"/>
          <p:nvPr/>
        </p:nvSpPr>
        <p:spPr>
          <a:xfrm>
            <a:off x="640080" y="1837944"/>
            <a:ext cx="1691640" cy="960120"/>
          </a:xfrm>
          <a:prstGeom prst="rect">
            <a:avLst/>
          </a:prstGeom>
          <a:noFill/>
          <a:ln/>
        </p:spPr>
        <p:txBody>
          <a:bodyPr wrap="square" lIns="0" tIns="0" rIns="0" bIns="0" rtlCol="0" anchor="ctr"/>
          <a:lstStyle/>
          <a:p>
            <a:pPr indent="0" marL="0">
              <a:buNone/>
            </a:pPr>
            <a:r>
              <a:rPr lang="en-US" sz="1200" b="1" dirty="0">
                <a:solidFill>
                  <a:schemeClr val="tx1"/>
                </a:solidFill>
              </a:rPr>
              <a:t>GDELT news</a:t>
            </a:r>
            <a:endParaRPr lang="en-US" sz="1200" dirty="0"/>
          </a:p>
          <a:p>
            <a:pPr indent="0" marL="0">
              <a:buNone/>
            </a:pPr>
            <a:r>
              <a:rPr lang="en-US" sz="1050" dirty="0">
                <a:solidFill>
                  <a:schemeClr val="tx2"/>
                </a:solidFill>
              </a:rPr>
              <a:t>165,782 headlines</a:t>
            </a:r>
            <a:endParaRPr lang="en-US" sz="1200" dirty="0"/>
          </a:p>
        </p:txBody>
      </p:sp>
      <p:sp>
        <p:nvSpPr>
          <p:cNvPr id="11" name="box-Stock tweets"/>
          <p:cNvSpPr/>
          <p:nvPr/>
        </p:nvSpPr>
        <p:spPr>
          <a:xfrm>
            <a:off x="548640" y="2971800"/>
            <a:ext cx="1874520" cy="1051560"/>
          </a:xfrm>
          <a:prstGeom prst="roundRect">
            <a:avLst>
              <a:gd name="adj" fmla="val 4348"/>
            </a:avLst>
          </a:prstGeom>
          <a:solidFill>
            <a:schemeClr val="bg2"/>
          </a:solidFill>
          <a:ln/>
        </p:spPr>
      </p:sp>
      <p:sp>
        <p:nvSpPr>
          <p:cNvPr id="12" name="Text 10"/>
          <p:cNvSpPr txBox="1"/>
          <p:nvPr/>
        </p:nvSpPr>
        <p:spPr>
          <a:xfrm>
            <a:off x="640080" y="3026664"/>
            <a:ext cx="1691640" cy="960120"/>
          </a:xfrm>
          <a:prstGeom prst="rect">
            <a:avLst/>
          </a:prstGeom>
          <a:noFill/>
          <a:ln/>
        </p:spPr>
        <p:txBody>
          <a:bodyPr wrap="square" lIns="0" tIns="0" rIns="0" bIns="0" rtlCol="0" anchor="ctr"/>
          <a:lstStyle/>
          <a:p>
            <a:pPr indent="0" marL="0">
              <a:buNone/>
            </a:pPr>
            <a:r>
              <a:rPr lang="en-US" sz="1200" b="1" dirty="0">
                <a:solidFill>
                  <a:schemeClr val="tx1"/>
                </a:solidFill>
              </a:rPr>
              <a:t>Stock tweets</a:t>
            </a:r>
            <a:endParaRPr lang="en-US" sz="1200" dirty="0"/>
          </a:p>
          <a:p>
            <a:pPr indent="0" marL="0">
              <a:buNone/>
            </a:pPr>
            <a:r>
              <a:rPr lang="en-US" sz="1050" dirty="0">
                <a:solidFill>
                  <a:schemeClr val="tx2"/>
                </a:solidFill>
              </a:rPr>
              <a:t>37,581 posts</a:t>
            </a:r>
            <a:endParaRPr lang="en-US" sz="1200" dirty="0"/>
          </a:p>
        </p:txBody>
      </p:sp>
      <p:sp>
        <p:nvSpPr>
          <p:cNvPr id="13" name="box-Benzinga history"/>
          <p:cNvSpPr/>
          <p:nvPr/>
        </p:nvSpPr>
        <p:spPr>
          <a:xfrm>
            <a:off x="548640" y="4160520"/>
            <a:ext cx="1874520" cy="1051560"/>
          </a:xfrm>
          <a:prstGeom prst="roundRect">
            <a:avLst>
              <a:gd name="adj" fmla="val 4348"/>
            </a:avLst>
          </a:prstGeom>
          <a:solidFill>
            <a:schemeClr val="bg2"/>
          </a:solidFill>
          <a:ln/>
        </p:spPr>
      </p:sp>
      <p:sp>
        <p:nvSpPr>
          <p:cNvPr id="14" name="Text 12"/>
          <p:cNvSpPr txBox="1"/>
          <p:nvPr/>
        </p:nvSpPr>
        <p:spPr>
          <a:xfrm>
            <a:off x="640080" y="4215384"/>
            <a:ext cx="1691640" cy="960120"/>
          </a:xfrm>
          <a:prstGeom prst="rect">
            <a:avLst/>
          </a:prstGeom>
          <a:noFill/>
          <a:ln/>
        </p:spPr>
        <p:txBody>
          <a:bodyPr wrap="square" lIns="0" tIns="0" rIns="0" bIns="0" rtlCol="0" anchor="ctr"/>
          <a:lstStyle/>
          <a:p>
            <a:pPr indent="0" marL="0">
              <a:buNone/>
            </a:pPr>
            <a:r>
              <a:rPr lang="en-US" sz="1200" b="1" dirty="0">
                <a:solidFill>
                  <a:schemeClr val="tx1"/>
                </a:solidFill>
              </a:rPr>
              <a:t>Benzinga history</a:t>
            </a:r>
            <a:endParaRPr lang="en-US" sz="1200" dirty="0"/>
          </a:p>
          <a:p>
            <a:pPr indent="0" marL="0">
              <a:buNone/>
            </a:pPr>
            <a:r>
              <a:rPr lang="en-US" sz="1050" dirty="0">
                <a:solidFill>
                  <a:schemeClr val="tx2"/>
                </a:solidFill>
              </a:rPr>
              <a:t>2009–20 headlines, impact training only</a:t>
            </a:r>
            <a:endParaRPr lang="en-US" sz="1200" dirty="0"/>
          </a:p>
        </p:txBody>
      </p:sp>
      <p:sp>
        <p:nvSpPr>
          <p:cNvPr id="15" name="box-Ingest"/>
          <p:cNvSpPr/>
          <p:nvPr/>
        </p:nvSpPr>
        <p:spPr>
          <a:xfrm>
            <a:off x="2743200" y="1783080"/>
            <a:ext cx="1691640" cy="3429000"/>
          </a:xfrm>
          <a:prstGeom prst="roundRect">
            <a:avLst>
              <a:gd name="adj" fmla="val 2703"/>
            </a:avLst>
          </a:prstGeom>
          <a:solidFill>
            <a:schemeClr val="bg2"/>
          </a:solidFill>
          <a:ln/>
        </p:spPr>
      </p:sp>
      <p:sp>
        <p:nvSpPr>
          <p:cNvPr id="16" name="Text 14"/>
          <p:cNvSpPr txBox="1"/>
          <p:nvPr/>
        </p:nvSpPr>
        <p:spPr>
          <a:xfrm>
            <a:off x="2834640" y="1837944"/>
            <a:ext cx="1508760" cy="3337560"/>
          </a:xfrm>
          <a:prstGeom prst="rect">
            <a:avLst/>
          </a:prstGeom>
          <a:noFill/>
          <a:ln/>
        </p:spPr>
        <p:txBody>
          <a:bodyPr wrap="square" lIns="0" tIns="0" rIns="0" bIns="0" rtlCol="0" anchor="ctr"/>
          <a:lstStyle/>
          <a:p>
            <a:pPr indent="0" marL="0">
              <a:buNone/>
            </a:pPr>
            <a:r>
              <a:rPr lang="en-US" sz="1200" b="1" dirty="0">
                <a:solidFill>
                  <a:schemeClr val="tx1"/>
                </a:solidFill>
              </a:rPr>
              <a:t>Ingest</a:t>
            </a:r>
            <a:endParaRPr lang="en-US" sz="1200" dirty="0"/>
          </a:p>
          <a:p>
            <a:pPr indent="0" marL="0">
              <a:buNone/>
            </a:pPr>
            <a:r>
              <a:rPr lang="en-US" sz="1050" dirty="0">
                <a:solidFill>
                  <a:schemeClr val="tx2"/>
                </a:solidFill>
              </a:rPr>
              <a:t>Normalise to one schema</a:t>
            </a:r>
            <a:endParaRPr lang="en-US" sz="1200" dirty="0"/>
          </a:p>
          <a:p>
            <a:pPr indent="0" marL="0">
              <a:buNone/>
            </a:pPr>
            <a:endParaRPr lang="en-US" sz="1200" dirty="0"/>
          </a:p>
          <a:p>
            <a:pPr indent="0" marL="0">
              <a:buNone/>
            </a:pPr>
            <a:r>
              <a:rPr lang="en-US" sz="1050" dirty="0">
                <a:solidFill>
                  <a:schemeClr val="tx2"/>
                </a:solidFill>
              </a:rPr>
              <a:t>Deduplicate (−39.0% of news)</a:t>
            </a:r>
            <a:endParaRPr lang="en-US" sz="1200" dirty="0"/>
          </a:p>
          <a:p>
            <a:pPr indent="0" marL="0">
              <a:buNone/>
            </a:pPr>
            <a:endParaRPr lang="en-US" sz="1200" dirty="0"/>
          </a:p>
          <a:p>
            <a:pPr indent="0" marL="0">
              <a:buNone/>
            </a:pPr>
            <a:r>
              <a:rPr lang="en-US" sz="1050" dirty="0">
                <a:solidFill>
                  <a:schemeClr val="tx2"/>
                </a:solidFill>
              </a:rPr>
              <a:t>Replay · live · batch, all one code path</a:t>
            </a:r>
            <a:endParaRPr lang="en-US" sz="1200" dirty="0"/>
          </a:p>
        </p:txBody>
      </p:sp>
      <p:sp>
        <p:nvSpPr>
          <p:cNvPr id="17" name="engine"/>
          <p:cNvSpPr/>
          <p:nvPr/>
        </p:nvSpPr>
        <p:spPr>
          <a:xfrm>
            <a:off x="4754880" y="1783080"/>
            <a:ext cx="2880360" cy="3429000"/>
          </a:xfrm>
          <a:prstGeom prst="roundRect">
            <a:avLst>
              <a:gd name="adj" fmla="val 1587"/>
            </a:avLst>
          </a:prstGeom>
          <a:solidFill>
            <a:schemeClr val="tx1"/>
          </a:solidFill>
          <a:ln/>
        </p:spPr>
      </p:sp>
      <p:sp>
        <p:nvSpPr>
          <p:cNvPr id="18" name="eng-Entity linking"/>
          <p:cNvSpPr/>
          <p:nvPr/>
        </p:nvSpPr>
        <p:spPr>
          <a:xfrm>
            <a:off x="4864608" y="1874520"/>
            <a:ext cx="2660904" cy="590702"/>
          </a:xfrm>
          <a:prstGeom prst="roundRect">
            <a:avLst>
              <a:gd name="adj" fmla="val 6192"/>
            </a:avLst>
          </a:prstGeom>
          <a:solidFill>
            <a:srgbClr val="1E3A63"/>
          </a:solidFill>
          <a:ln/>
        </p:spPr>
      </p:sp>
      <p:sp>
        <p:nvSpPr>
          <p:cNvPr id="19" name="Text 17"/>
          <p:cNvSpPr txBox="1"/>
          <p:nvPr/>
        </p:nvSpPr>
        <p:spPr>
          <a:xfrm>
            <a:off x="4983480" y="1901952"/>
            <a:ext cx="2468880" cy="535838"/>
          </a:xfrm>
          <a:prstGeom prst="rect">
            <a:avLst/>
          </a:prstGeom>
          <a:noFill/>
          <a:ln/>
        </p:spPr>
        <p:txBody>
          <a:bodyPr wrap="square" lIns="0" tIns="0" rIns="0" bIns="0" rtlCol="0" anchor="ctr"/>
          <a:lstStyle/>
          <a:p>
            <a:pPr indent="0" marL="0">
              <a:buNone/>
            </a:pPr>
            <a:r>
              <a:rPr lang="en-US" sz="1150" b="1" dirty="0">
                <a:solidFill>
                  <a:schemeClr val="bg1"/>
                </a:solidFill>
              </a:rPr>
              <a:t>Entity linking</a:t>
            </a:r>
            <a:endParaRPr lang="en-US" sz="1150" dirty="0"/>
          </a:p>
          <a:p>
            <a:pPr indent="0" marL="0">
              <a:buNone/>
            </a:pPr>
            <a:r>
              <a:rPr lang="en-US" sz="1000" dirty="0">
                <a:solidFill>
                  <a:schemeClr val="accent6"/>
                </a:solidFill>
              </a:rPr>
              <a:t>20 tickers + market-wide (MKT)</a:t>
            </a:r>
            <a:endParaRPr lang="en-US" sz="1150" dirty="0"/>
          </a:p>
        </p:txBody>
      </p:sp>
      <p:sp>
        <p:nvSpPr>
          <p:cNvPr id="20" name="eng-Sentiment"/>
          <p:cNvSpPr/>
          <p:nvPr/>
        </p:nvSpPr>
        <p:spPr>
          <a:xfrm>
            <a:off x="4864608" y="2538374"/>
            <a:ext cx="2660904" cy="590702"/>
          </a:xfrm>
          <a:prstGeom prst="roundRect">
            <a:avLst>
              <a:gd name="adj" fmla="val 6192"/>
            </a:avLst>
          </a:prstGeom>
          <a:solidFill>
            <a:srgbClr val="1E3A63"/>
          </a:solidFill>
          <a:ln/>
        </p:spPr>
      </p:sp>
      <p:sp>
        <p:nvSpPr>
          <p:cNvPr id="21" name="Text 19"/>
          <p:cNvSpPr txBox="1"/>
          <p:nvPr/>
        </p:nvSpPr>
        <p:spPr>
          <a:xfrm>
            <a:off x="4983480" y="2565806"/>
            <a:ext cx="2468880" cy="535838"/>
          </a:xfrm>
          <a:prstGeom prst="rect">
            <a:avLst/>
          </a:prstGeom>
          <a:noFill/>
          <a:ln/>
        </p:spPr>
        <p:txBody>
          <a:bodyPr wrap="square" lIns="0" tIns="0" rIns="0" bIns="0" rtlCol="0" anchor="ctr"/>
          <a:lstStyle/>
          <a:p>
            <a:pPr indent="0" marL="0">
              <a:buNone/>
            </a:pPr>
            <a:r>
              <a:rPr lang="en-US" sz="1150" b="1" dirty="0">
                <a:solidFill>
                  <a:schemeClr val="bg1"/>
                </a:solidFill>
              </a:rPr>
              <a:t>Sentiment</a:t>
            </a:r>
            <a:endParaRPr lang="en-US" sz="1150" dirty="0"/>
          </a:p>
          <a:p>
            <a:pPr indent="0" marL="0">
              <a:buNone/>
            </a:pPr>
            <a:r>
              <a:rPr lang="en-US" sz="1000" dirty="0">
                <a:solidFill>
                  <a:schemeClr val="accent6"/>
                </a:solidFill>
              </a:rPr>
              <a:t>FinBERT (news) · tweet-tuned FinBERT</a:t>
            </a:r>
            <a:endParaRPr lang="en-US" sz="1150" dirty="0"/>
          </a:p>
        </p:txBody>
      </p:sp>
      <p:sp>
        <p:nvSpPr>
          <p:cNvPr id="22" name="eng-Event classifier"/>
          <p:cNvSpPr/>
          <p:nvPr/>
        </p:nvSpPr>
        <p:spPr>
          <a:xfrm>
            <a:off x="4864608" y="3202229"/>
            <a:ext cx="2660904" cy="590702"/>
          </a:xfrm>
          <a:prstGeom prst="roundRect">
            <a:avLst>
              <a:gd name="adj" fmla="val 6192"/>
            </a:avLst>
          </a:prstGeom>
          <a:solidFill>
            <a:srgbClr val="1E3A63"/>
          </a:solidFill>
          <a:ln/>
        </p:spPr>
      </p:sp>
      <p:sp>
        <p:nvSpPr>
          <p:cNvPr id="23" name="Text 21"/>
          <p:cNvSpPr txBox="1"/>
          <p:nvPr/>
        </p:nvSpPr>
        <p:spPr>
          <a:xfrm>
            <a:off x="4983480" y="3229661"/>
            <a:ext cx="2468880" cy="535838"/>
          </a:xfrm>
          <a:prstGeom prst="rect">
            <a:avLst/>
          </a:prstGeom>
          <a:noFill/>
          <a:ln/>
        </p:spPr>
        <p:txBody>
          <a:bodyPr wrap="square" lIns="0" tIns="0" rIns="0" bIns="0" rtlCol="0" anchor="ctr"/>
          <a:lstStyle/>
          <a:p>
            <a:pPr indent="0" marL="0">
              <a:buNone/>
            </a:pPr>
            <a:r>
              <a:rPr lang="en-US" sz="1150" b="1" dirty="0">
                <a:solidFill>
                  <a:schemeClr val="bg1"/>
                </a:solidFill>
              </a:rPr>
              <a:t>Event classifier</a:t>
            </a:r>
            <a:endParaRPr lang="en-US" sz="1150" dirty="0"/>
          </a:p>
          <a:p>
            <a:pPr indent="0" marL="0">
              <a:buNone/>
            </a:pPr>
            <a:r>
              <a:rPr lang="en-US" sz="1000" dirty="0">
                <a:solidFill>
                  <a:schemeClr val="accent6"/>
                </a:solidFill>
              </a:rPr>
              <a:t>10 classes, calibrated confidence</a:t>
            </a:r>
            <a:endParaRPr lang="en-US" sz="1150" dirty="0"/>
          </a:p>
        </p:txBody>
      </p:sp>
      <p:sp>
        <p:nvSpPr>
          <p:cNvPr id="24" name="eng-Story clustering"/>
          <p:cNvSpPr/>
          <p:nvPr/>
        </p:nvSpPr>
        <p:spPr>
          <a:xfrm>
            <a:off x="4864608" y="3866083"/>
            <a:ext cx="2660904" cy="590702"/>
          </a:xfrm>
          <a:prstGeom prst="roundRect">
            <a:avLst>
              <a:gd name="adj" fmla="val 6192"/>
            </a:avLst>
          </a:prstGeom>
          <a:solidFill>
            <a:srgbClr val="1E3A63"/>
          </a:solidFill>
          <a:ln/>
        </p:spPr>
      </p:sp>
      <p:sp>
        <p:nvSpPr>
          <p:cNvPr id="25" name="Text 23"/>
          <p:cNvSpPr txBox="1"/>
          <p:nvPr/>
        </p:nvSpPr>
        <p:spPr>
          <a:xfrm>
            <a:off x="4983480" y="3893515"/>
            <a:ext cx="2468880" cy="535838"/>
          </a:xfrm>
          <a:prstGeom prst="rect">
            <a:avLst/>
          </a:prstGeom>
          <a:noFill/>
          <a:ln/>
        </p:spPr>
        <p:txBody>
          <a:bodyPr wrap="square" lIns="0" tIns="0" rIns="0" bIns="0" rtlCol="0" anchor="ctr"/>
          <a:lstStyle/>
          <a:p>
            <a:pPr indent="0" marL="0">
              <a:buNone/>
            </a:pPr>
            <a:r>
              <a:rPr lang="en-US" sz="1150" b="1" dirty="0">
                <a:solidFill>
                  <a:schemeClr val="bg1"/>
                </a:solidFill>
              </a:rPr>
              <a:t>Story clustering</a:t>
            </a:r>
            <a:endParaRPr lang="en-US" sz="1150" dirty="0"/>
          </a:p>
          <a:p>
            <a:pPr indent="0" marL="0">
              <a:buNone/>
            </a:pPr>
            <a:r>
              <a:rPr lang="en-US" sz="1000" dirty="0">
                <a:solidFill>
                  <a:schemeClr val="accent6"/>
                </a:solidFill>
              </a:rPr>
              <a:t>sentence embeddings</a:t>
            </a:r>
            <a:endParaRPr lang="en-US" sz="1150" dirty="0"/>
          </a:p>
        </p:txBody>
      </p:sp>
      <p:sp>
        <p:nvSpPr>
          <p:cNvPr id="26" name="eng-Impact"/>
          <p:cNvSpPr/>
          <p:nvPr/>
        </p:nvSpPr>
        <p:spPr>
          <a:xfrm>
            <a:off x="4864608" y="4529938"/>
            <a:ext cx="2660904" cy="590702"/>
          </a:xfrm>
          <a:prstGeom prst="roundRect">
            <a:avLst>
              <a:gd name="adj" fmla="val 6192"/>
            </a:avLst>
          </a:prstGeom>
          <a:solidFill>
            <a:srgbClr val="1E3A63"/>
          </a:solidFill>
          <a:ln/>
        </p:spPr>
      </p:sp>
      <p:sp>
        <p:nvSpPr>
          <p:cNvPr id="27" name="Text 25"/>
          <p:cNvSpPr txBox="1"/>
          <p:nvPr/>
        </p:nvSpPr>
        <p:spPr>
          <a:xfrm>
            <a:off x="4983480" y="4557370"/>
            <a:ext cx="2468880" cy="535838"/>
          </a:xfrm>
          <a:prstGeom prst="rect">
            <a:avLst/>
          </a:prstGeom>
          <a:noFill/>
          <a:ln/>
        </p:spPr>
        <p:txBody>
          <a:bodyPr wrap="square" lIns="0" tIns="0" rIns="0" bIns="0" rtlCol="0" anchor="ctr"/>
          <a:lstStyle/>
          <a:p>
            <a:pPr indent="0" marL="0">
              <a:buNone/>
            </a:pPr>
            <a:r>
              <a:rPr lang="en-US" sz="1150" b="1" dirty="0">
                <a:solidFill>
                  <a:schemeClr val="bg1"/>
                </a:solidFill>
              </a:rPr>
              <a:t>Impact</a:t>
            </a:r>
            <a:endParaRPr lang="en-US" sz="1150" dirty="0"/>
          </a:p>
          <a:p>
            <a:pPr indent="0" marL="0">
              <a:buNone/>
            </a:pPr>
            <a:r>
              <a:rPr lang="en-US" sz="1000" dirty="0">
                <a:solidFill>
                  <a:schemeClr val="accent6"/>
                </a:solidFill>
              </a:rPr>
              <a:t>v2 LightGBM (companies) · v1 (market)</a:t>
            </a:r>
            <a:endParaRPr lang="en-US" sz="1150" dirty="0"/>
          </a:p>
        </p:txBody>
      </p:sp>
      <p:sp>
        <p:nvSpPr>
          <p:cNvPr id="28" name="box-Signal store"/>
          <p:cNvSpPr/>
          <p:nvPr/>
        </p:nvSpPr>
        <p:spPr>
          <a:xfrm>
            <a:off x="7955280" y="1783080"/>
            <a:ext cx="1691640" cy="1645920"/>
          </a:xfrm>
          <a:prstGeom prst="roundRect">
            <a:avLst>
              <a:gd name="adj" fmla="val 2778"/>
            </a:avLst>
          </a:prstGeom>
          <a:solidFill>
            <a:schemeClr val="bg2"/>
          </a:solidFill>
          <a:ln/>
        </p:spPr>
      </p:sp>
      <p:sp>
        <p:nvSpPr>
          <p:cNvPr id="29" name="Text 27"/>
          <p:cNvSpPr txBox="1"/>
          <p:nvPr/>
        </p:nvSpPr>
        <p:spPr>
          <a:xfrm>
            <a:off x="8046720" y="1837944"/>
            <a:ext cx="1508760" cy="1554480"/>
          </a:xfrm>
          <a:prstGeom prst="rect">
            <a:avLst/>
          </a:prstGeom>
          <a:noFill/>
          <a:ln/>
        </p:spPr>
        <p:txBody>
          <a:bodyPr wrap="square" lIns="0" tIns="0" rIns="0" bIns="0" rtlCol="0" anchor="ctr"/>
          <a:lstStyle/>
          <a:p>
            <a:pPr indent="0" marL="0">
              <a:buNone/>
            </a:pPr>
            <a:r>
              <a:rPr lang="en-US" sz="1200" b="1" dirty="0">
                <a:solidFill>
                  <a:schemeClr val="tx1"/>
                </a:solidFill>
              </a:rPr>
              <a:t>Signal store</a:t>
            </a:r>
            <a:endParaRPr lang="en-US" sz="1200" dirty="0"/>
          </a:p>
          <a:p>
            <a:pPr indent="0" marL="0">
              <a:buNone/>
            </a:pPr>
            <a:r>
              <a:rPr lang="en-US" sz="1050" dirty="0">
                <a:solidFill>
                  <a:schemeClr val="tx2"/>
                </a:solidFill>
              </a:rPr>
              <a:t>DuckDB + JSONL file</a:t>
            </a:r>
            <a:endParaRPr lang="en-US" sz="1200" dirty="0"/>
          </a:p>
        </p:txBody>
      </p:sp>
      <p:sp>
        <p:nvSpPr>
          <p:cNvPr id="30" name="box-FastAPI"/>
          <p:cNvSpPr/>
          <p:nvPr/>
        </p:nvSpPr>
        <p:spPr>
          <a:xfrm>
            <a:off x="7955280" y="3566160"/>
            <a:ext cx="1691640" cy="1645920"/>
          </a:xfrm>
          <a:prstGeom prst="roundRect">
            <a:avLst>
              <a:gd name="adj" fmla="val 2778"/>
            </a:avLst>
          </a:prstGeom>
          <a:solidFill>
            <a:schemeClr val="bg2"/>
          </a:solidFill>
          <a:ln/>
        </p:spPr>
      </p:sp>
      <p:sp>
        <p:nvSpPr>
          <p:cNvPr id="31" name="Text 29"/>
          <p:cNvSpPr txBox="1"/>
          <p:nvPr/>
        </p:nvSpPr>
        <p:spPr>
          <a:xfrm>
            <a:off x="8046720" y="3621024"/>
            <a:ext cx="1508760" cy="1554480"/>
          </a:xfrm>
          <a:prstGeom prst="rect">
            <a:avLst/>
          </a:prstGeom>
          <a:noFill/>
          <a:ln/>
        </p:spPr>
        <p:txBody>
          <a:bodyPr wrap="square" lIns="0" tIns="0" rIns="0" bIns="0" rtlCol="0" anchor="ctr"/>
          <a:lstStyle/>
          <a:p>
            <a:pPr indent="0" marL="0">
              <a:buNone/>
            </a:pPr>
            <a:r>
              <a:rPr lang="en-US" sz="1200" b="1" dirty="0">
                <a:solidFill>
                  <a:schemeClr val="tx1"/>
                </a:solidFill>
              </a:rPr>
              <a:t>FastAPI</a:t>
            </a:r>
            <a:endParaRPr lang="en-US" sz="1200" dirty="0"/>
          </a:p>
          <a:p>
            <a:pPr indent="0" marL="0">
              <a:buNone/>
            </a:pPr>
            <a:r>
              <a:rPr lang="en-US" sz="1050" dirty="0">
                <a:solidFill>
                  <a:schemeClr val="tx2"/>
                </a:solidFill>
              </a:rPr>
              <a:t>REST · live SSE stream · POST /analyze</a:t>
            </a:r>
            <a:endParaRPr lang="en-US" sz="1200" dirty="0"/>
          </a:p>
        </p:txBody>
      </p:sp>
      <p:sp>
        <p:nvSpPr>
          <p:cNvPr id="32" name="box-Module A"/>
          <p:cNvSpPr/>
          <p:nvPr/>
        </p:nvSpPr>
        <p:spPr>
          <a:xfrm>
            <a:off x="9966960" y="1783080"/>
            <a:ext cx="1673352" cy="1051560"/>
          </a:xfrm>
          <a:prstGeom prst="roundRect">
            <a:avLst>
              <a:gd name="adj" fmla="val 4348"/>
            </a:avLst>
          </a:prstGeom>
          <a:solidFill>
            <a:schemeClr val="tx1"/>
          </a:solidFill>
          <a:ln/>
        </p:spPr>
      </p:sp>
      <p:sp>
        <p:nvSpPr>
          <p:cNvPr id="33" name="Text 31"/>
          <p:cNvSpPr txBox="1"/>
          <p:nvPr/>
        </p:nvSpPr>
        <p:spPr>
          <a:xfrm>
            <a:off x="10058400" y="1837944"/>
            <a:ext cx="1490472" cy="960120"/>
          </a:xfrm>
          <a:prstGeom prst="rect">
            <a:avLst/>
          </a:prstGeom>
          <a:noFill/>
          <a:ln/>
        </p:spPr>
        <p:txBody>
          <a:bodyPr wrap="square" lIns="0" tIns="0" rIns="0" bIns="0" rtlCol="0" anchor="ctr"/>
          <a:lstStyle/>
          <a:p>
            <a:pPr indent="0" marL="0">
              <a:buNone/>
            </a:pPr>
            <a:r>
              <a:rPr lang="en-US" sz="1200" b="1" dirty="0">
                <a:solidFill>
                  <a:schemeClr val="bg1"/>
                </a:solidFill>
              </a:rPr>
              <a:t>Module A</a:t>
            </a:r>
            <a:endParaRPr lang="en-US" sz="1200" dirty="0"/>
          </a:p>
          <a:p>
            <a:pPr indent="0" marL="0">
              <a:buNone/>
            </a:pPr>
            <a:r>
              <a:rPr lang="en-US" sz="1050" dirty="0">
                <a:solidFill>
                  <a:schemeClr val="accent6"/>
                </a:solidFill>
              </a:rPr>
              <a:t>index rebalancer</a:t>
            </a:r>
            <a:endParaRPr lang="en-US" sz="1200" dirty="0"/>
          </a:p>
        </p:txBody>
      </p:sp>
      <p:sp>
        <p:nvSpPr>
          <p:cNvPr id="34" name="box-Module B"/>
          <p:cNvSpPr/>
          <p:nvPr/>
        </p:nvSpPr>
        <p:spPr>
          <a:xfrm>
            <a:off x="9966960" y="2971800"/>
            <a:ext cx="1673352" cy="1051560"/>
          </a:xfrm>
          <a:prstGeom prst="roundRect">
            <a:avLst>
              <a:gd name="adj" fmla="val 4348"/>
            </a:avLst>
          </a:prstGeom>
          <a:solidFill>
            <a:schemeClr val="tx1"/>
          </a:solidFill>
          <a:ln/>
        </p:spPr>
      </p:sp>
      <p:sp>
        <p:nvSpPr>
          <p:cNvPr id="35" name="Text 33"/>
          <p:cNvSpPr txBox="1"/>
          <p:nvPr/>
        </p:nvSpPr>
        <p:spPr>
          <a:xfrm>
            <a:off x="10058400" y="3026664"/>
            <a:ext cx="1490472" cy="960120"/>
          </a:xfrm>
          <a:prstGeom prst="rect">
            <a:avLst/>
          </a:prstGeom>
          <a:noFill/>
          <a:ln/>
        </p:spPr>
        <p:txBody>
          <a:bodyPr wrap="square" lIns="0" tIns="0" rIns="0" bIns="0" rtlCol="0" anchor="ctr"/>
          <a:lstStyle/>
          <a:p>
            <a:pPr indent="0" marL="0">
              <a:buNone/>
            </a:pPr>
            <a:r>
              <a:rPr lang="en-US" sz="1200" b="1" dirty="0">
                <a:solidFill>
                  <a:schemeClr val="bg1"/>
                </a:solidFill>
              </a:rPr>
              <a:t>Module B</a:t>
            </a:r>
            <a:endParaRPr lang="en-US" sz="1200" dirty="0"/>
          </a:p>
          <a:p>
            <a:pPr indent="0" marL="0">
              <a:buNone/>
            </a:pPr>
            <a:r>
              <a:rPr lang="en-US" sz="1050" dirty="0">
                <a:solidFill>
                  <a:schemeClr val="accent6"/>
                </a:solidFill>
              </a:rPr>
              <a:t>stress tester</a:t>
            </a:r>
            <a:endParaRPr lang="en-US" sz="1200" dirty="0"/>
          </a:p>
        </p:txBody>
      </p:sp>
      <p:sp>
        <p:nvSpPr>
          <p:cNvPr id="36" name="box-Dashboard"/>
          <p:cNvSpPr/>
          <p:nvPr/>
        </p:nvSpPr>
        <p:spPr>
          <a:xfrm>
            <a:off x="9966960" y="4160520"/>
            <a:ext cx="1673352" cy="1051560"/>
          </a:xfrm>
          <a:prstGeom prst="roundRect">
            <a:avLst>
              <a:gd name="adj" fmla="val 4348"/>
            </a:avLst>
          </a:prstGeom>
          <a:solidFill>
            <a:schemeClr val="bg2"/>
          </a:solidFill>
          <a:ln/>
        </p:spPr>
      </p:sp>
      <p:sp>
        <p:nvSpPr>
          <p:cNvPr id="37" name="Text 35"/>
          <p:cNvSpPr txBox="1"/>
          <p:nvPr/>
        </p:nvSpPr>
        <p:spPr>
          <a:xfrm>
            <a:off x="10058400" y="4215384"/>
            <a:ext cx="1490472" cy="960120"/>
          </a:xfrm>
          <a:prstGeom prst="rect">
            <a:avLst/>
          </a:prstGeom>
          <a:noFill/>
          <a:ln/>
        </p:spPr>
        <p:txBody>
          <a:bodyPr wrap="square" lIns="0" tIns="0" rIns="0" bIns="0" rtlCol="0" anchor="ctr"/>
          <a:lstStyle/>
          <a:p>
            <a:pPr indent="0" marL="0">
              <a:buNone/>
            </a:pPr>
            <a:r>
              <a:rPr lang="en-US" sz="1200" b="1" dirty="0">
                <a:solidFill>
                  <a:schemeClr val="tx1"/>
                </a:solidFill>
              </a:rPr>
              <a:t>Dashboard</a:t>
            </a:r>
            <a:endParaRPr lang="en-US" sz="1200" dirty="0"/>
          </a:p>
          <a:p>
            <a:pPr indent="0" marL="0">
              <a:buNone/>
            </a:pPr>
            <a:r>
              <a:rPr lang="en-US" sz="1050" dirty="0">
                <a:solidFill>
                  <a:schemeClr val="tx2"/>
                </a:solidFill>
              </a:rPr>
              <a:t>Streamlit, 4 pages</a:t>
            </a:r>
            <a:endParaRPr lang="en-US" sz="1200" dirty="0"/>
          </a:p>
        </p:txBody>
      </p:sp>
      <p:sp>
        <p:nvSpPr>
          <p:cNvPr id="38" name="Shape 36"/>
          <p:cNvSpPr/>
          <p:nvPr/>
        </p:nvSpPr>
        <p:spPr>
          <a:xfrm>
            <a:off x="2441448" y="3497580"/>
            <a:ext cx="283464" cy="0"/>
          </a:xfrm>
          <a:prstGeom prst="line">
            <a:avLst/>
          </a:prstGeom>
          <a:noFill/>
          <a:ln w="19050">
            <a:solidFill>
              <a:schemeClr val="accent5"/>
            </a:solidFill>
            <a:prstDash val="solid"/>
            <a:tailEnd type="triangle"/>
          </a:ln>
        </p:spPr>
      </p:sp>
      <p:sp>
        <p:nvSpPr>
          <p:cNvPr id="39" name="Shape 37"/>
          <p:cNvSpPr/>
          <p:nvPr/>
        </p:nvSpPr>
        <p:spPr>
          <a:xfrm>
            <a:off x="4453128" y="3497580"/>
            <a:ext cx="283464" cy="0"/>
          </a:xfrm>
          <a:prstGeom prst="line">
            <a:avLst/>
          </a:prstGeom>
          <a:noFill/>
          <a:ln w="19050">
            <a:solidFill>
              <a:schemeClr val="accent5"/>
            </a:solidFill>
            <a:prstDash val="solid"/>
            <a:tailEnd type="triangle"/>
          </a:ln>
        </p:spPr>
      </p:sp>
      <p:sp>
        <p:nvSpPr>
          <p:cNvPr id="40" name="Shape 38"/>
          <p:cNvSpPr/>
          <p:nvPr/>
        </p:nvSpPr>
        <p:spPr>
          <a:xfrm>
            <a:off x="7653528" y="3497580"/>
            <a:ext cx="283464" cy="0"/>
          </a:xfrm>
          <a:prstGeom prst="line">
            <a:avLst/>
          </a:prstGeom>
          <a:noFill/>
          <a:ln w="19050">
            <a:solidFill>
              <a:schemeClr val="accent5"/>
            </a:solidFill>
            <a:prstDash val="solid"/>
            <a:tailEnd type="triangle"/>
          </a:ln>
        </p:spPr>
      </p:sp>
      <p:sp>
        <p:nvSpPr>
          <p:cNvPr id="41" name="Shape 39"/>
          <p:cNvSpPr/>
          <p:nvPr/>
        </p:nvSpPr>
        <p:spPr>
          <a:xfrm>
            <a:off x="9665208" y="3497580"/>
            <a:ext cx="283464" cy="0"/>
          </a:xfrm>
          <a:prstGeom prst="line">
            <a:avLst/>
          </a:prstGeom>
          <a:noFill/>
          <a:ln w="19050">
            <a:solidFill>
              <a:schemeClr val="accent5"/>
            </a:solidFill>
            <a:prstDash val="solid"/>
            <a:tailEnd type="triangle"/>
          </a:ln>
        </p:spPr>
      </p:sp>
      <p:sp>
        <p:nvSpPr>
          <p:cNvPr id="42" name="icon-badge-FiDatabase"/>
          <p:cNvSpPr/>
          <p:nvPr/>
        </p:nvSpPr>
        <p:spPr>
          <a:xfrm>
            <a:off x="548640" y="5486400"/>
            <a:ext cx="411480" cy="411480"/>
          </a:xfrm>
          <a:prstGeom prst="ellipse">
            <a:avLst/>
          </a:prstGeom>
          <a:solidFill>
            <a:schemeClr val="accent1"/>
          </a:solidFill>
          <a:ln/>
        </p:spPr>
      </p:sp>
      <p:pic>
        <p:nvPicPr>
          <p:cNvPr id="43" name="icon-FiDatabase" descr="preencoded.png">    </p:cNvPr>
          <p:cNvPicPr>
            <a:picLocks noChangeAspect="1"/>
          </p:cNvPicPr>
          <p:nvPr/>
        </p:nvPicPr>
        <p:blipFill>
          <a:blip r:embed="rId1"/>
          <a:stretch>
            <a:fillRect/>
          </a:stretch>
        </p:blipFill>
        <p:spPr>
          <a:xfrm>
            <a:off x="651510" y="5589270"/>
            <a:ext cx="205740" cy="205740"/>
          </a:xfrm>
          <a:prstGeom prst="rect">
            <a:avLst/>
          </a:prstGeom>
        </p:spPr>
      </p:pic>
      <p:sp>
        <p:nvSpPr>
          <p:cNvPr id="44" name="Text 41"/>
          <p:cNvSpPr txBox="1"/>
          <p:nvPr/>
        </p:nvSpPr>
        <p:spPr>
          <a:xfrm>
            <a:off x="1078992" y="5458968"/>
            <a:ext cx="2103120" cy="548640"/>
          </a:xfrm>
          <a:prstGeom prst="rect">
            <a:avLst/>
          </a:prstGeom>
          <a:noFill/>
          <a:ln/>
        </p:spPr>
        <p:txBody>
          <a:bodyPr wrap="square" lIns="0" tIns="0" rIns="0" bIns="0" rtlCol="0" anchor="t"/>
          <a:lstStyle/>
          <a:p>
            <a:pPr indent="0" marL="0">
              <a:buNone/>
            </a:pPr>
            <a:r>
              <a:rPr lang="en-US" sz="1200" b="1" dirty="0">
                <a:solidFill>
                  <a:schemeClr val="tx1"/>
                </a:solidFill>
              </a:rPr>
              <a:t>203,363 documents</a:t>
            </a:r>
            <a:endParaRPr lang="en-US" sz="1200" dirty="0"/>
          </a:p>
          <a:p>
            <a:pPr indent="0" marL="0">
              <a:buNone/>
            </a:pPr>
            <a:r>
              <a:rPr lang="en-US" sz="1050" dirty="0">
                <a:solidFill>
                  <a:schemeClr val="tx2"/>
                </a:solidFill>
                <a:latin typeface="Calibri" pitchFamily="34" charset="0"/>
                <a:ea typeface="Calibri" pitchFamily="34" charset="-122"/>
                <a:cs typeface="Calibri" pitchFamily="34" charset="-120"/>
              </a:rPr>
              <a:t>Sep 2021 – Sep 2022, time-ordered</a:t>
            </a:r>
            <a:endParaRPr lang="en-US" sz="1200" dirty="0"/>
          </a:p>
        </p:txBody>
      </p:sp>
      <p:sp>
        <p:nvSpPr>
          <p:cNvPr id="45" name="icon-badge-FiCpu"/>
          <p:cNvSpPr/>
          <p:nvPr/>
        </p:nvSpPr>
        <p:spPr>
          <a:xfrm>
            <a:off x="3246120" y="5486400"/>
            <a:ext cx="411480" cy="411480"/>
          </a:xfrm>
          <a:prstGeom prst="ellipse">
            <a:avLst/>
          </a:prstGeom>
          <a:solidFill>
            <a:schemeClr val="accent1"/>
          </a:solidFill>
          <a:ln/>
        </p:spPr>
      </p:sp>
      <p:pic>
        <p:nvPicPr>
          <p:cNvPr id="46" name="icon-FiCpu" descr="preencoded.png">    </p:cNvPr>
          <p:cNvPicPr>
            <a:picLocks noChangeAspect="1"/>
          </p:cNvPicPr>
          <p:nvPr/>
        </p:nvPicPr>
        <p:blipFill>
          <a:blip r:embed="rId2"/>
          <a:stretch>
            <a:fillRect/>
          </a:stretch>
        </p:blipFill>
        <p:spPr>
          <a:xfrm>
            <a:off x="3348990" y="5589270"/>
            <a:ext cx="205740" cy="205740"/>
          </a:xfrm>
          <a:prstGeom prst="rect">
            <a:avLst/>
          </a:prstGeom>
        </p:spPr>
      </p:pic>
      <p:sp>
        <p:nvSpPr>
          <p:cNvPr id="47" name="Text 43"/>
          <p:cNvSpPr txBox="1"/>
          <p:nvPr/>
        </p:nvSpPr>
        <p:spPr>
          <a:xfrm>
            <a:off x="3776472" y="5458968"/>
            <a:ext cx="2103120" cy="548640"/>
          </a:xfrm>
          <a:prstGeom prst="rect">
            <a:avLst/>
          </a:prstGeom>
          <a:noFill/>
          <a:ln/>
        </p:spPr>
        <p:txBody>
          <a:bodyPr wrap="square" lIns="0" tIns="0" rIns="0" bIns="0" rtlCol="0" anchor="t"/>
          <a:lstStyle/>
          <a:p>
            <a:pPr indent="0" marL="0">
              <a:buNone/>
            </a:pPr>
            <a:r>
              <a:rPr lang="en-US" sz="1200" b="1" dirty="0">
                <a:solidFill>
                  <a:schemeClr val="tx1"/>
                </a:solidFill>
              </a:rPr>
              <a:t>CPU only</a:t>
            </a:r>
            <a:endParaRPr lang="en-US" sz="1200" dirty="0"/>
          </a:p>
          <a:p>
            <a:pPr indent="0" marL="0">
              <a:buNone/>
            </a:pPr>
            <a:r>
              <a:rPr lang="en-US" sz="1050" dirty="0">
                <a:solidFill>
                  <a:schemeClr val="tx2"/>
                </a:solidFill>
                <a:latin typeface="Calibri" pitchFamily="34" charset="0"/>
                <a:ea typeface="Calibri" pitchFamily="34" charset="-122"/>
                <a:cs typeface="Calibri" pitchFamily="34" charset="-120"/>
              </a:rPr>
              <a:t>no GPU, no paid API keys</a:t>
            </a:r>
            <a:endParaRPr lang="en-US" sz="1200" dirty="0"/>
          </a:p>
        </p:txBody>
      </p:sp>
      <p:sp>
        <p:nvSpPr>
          <p:cNvPr id="48" name="icon-badge-FiCloud"/>
          <p:cNvSpPr/>
          <p:nvPr/>
        </p:nvSpPr>
        <p:spPr>
          <a:xfrm>
            <a:off x="5943600" y="5486400"/>
            <a:ext cx="411480" cy="411480"/>
          </a:xfrm>
          <a:prstGeom prst="ellipse">
            <a:avLst/>
          </a:prstGeom>
          <a:solidFill>
            <a:schemeClr val="accent1"/>
          </a:solidFill>
          <a:ln/>
        </p:spPr>
      </p:sp>
      <p:pic>
        <p:nvPicPr>
          <p:cNvPr id="49" name="icon-FiCloud" descr="preencoded.png">    </p:cNvPr>
          <p:cNvPicPr>
            <a:picLocks noChangeAspect="1"/>
          </p:cNvPicPr>
          <p:nvPr/>
        </p:nvPicPr>
        <p:blipFill>
          <a:blip r:embed="rId3"/>
          <a:stretch>
            <a:fillRect/>
          </a:stretch>
        </p:blipFill>
        <p:spPr>
          <a:xfrm>
            <a:off x="6046470" y="5589270"/>
            <a:ext cx="205740" cy="205740"/>
          </a:xfrm>
          <a:prstGeom prst="rect">
            <a:avLst/>
          </a:prstGeom>
        </p:spPr>
      </p:pic>
      <p:sp>
        <p:nvSpPr>
          <p:cNvPr id="50" name="Text 45"/>
          <p:cNvSpPr txBox="1"/>
          <p:nvPr/>
        </p:nvSpPr>
        <p:spPr>
          <a:xfrm>
            <a:off x="6473952" y="5458968"/>
            <a:ext cx="2103120" cy="548640"/>
          </a:xfrm>
          <a:prstGeom prst="rect">
            <a:avLst/>
          </a:prstGeom>
          <a:noFill/>
          <a:ln/>
        </p:spPr>
        <p:txBody>
          <a:bodyPr wrap="square" lIns="0" tIns="0" rIns="0" bIns="0" rtlCol="0" anchor="t"/>
          <a:lstStyle/>
          <a:p>
            <a:pPr indent="0" marL="0">
              <a:buNone/>
            </a:pPr>
            <a:r>
              <a:rPr lang="en-US" sz="1200" b="1" dirty="0">
                <a:solidFill>
                  <a:schemeClr val="tx1"/>
                </a:solidFill>
              </a:rPr>
              <a:t>Models shipped</a:t>
            </a:r>
            <a:endParaRPr lang="en-US" sz="1200" dirty="0"/>
          </a:p>
          <a:p>
            <a:pPr indent="0" marL="0">
              <a:buNone/>
            </a:pPr>
            <a:r>
              <a:rPr lang="en-US" sz="1050" dirty="0">
                <a:solidFill>
                  <a:schemeClr val="tx2"/>
                </a:solidFill>
                <a:latin typeface="Calibri" pitchFamily="34" charset="0"/>
                <a:ea typeface="Calibri" pitchFamily="34" charset="-122"/>
                <a:cs typeface="Calibri" pitchFamily="34" charset="-120"/>
              </a:rPr>
              <a:t>in the repo + Hugging Face Hub</a:t>
            </a:r>
            <a:endParaRPr lang="en-US" sz="1200" dirty="0"/>
          </a:p>
        </p:txBody>
      </p:sp>
      <p:sp>
        <p:nvSpPr>
          <p:cNvPr id="51" name="icon-badge-FiTerminal"/>
          <p:cNvSpPr/>
          <p:nvPr/>
        </p:nvSpPr>
        <p:spPr>
          <a:xfrm>
            <a:off x="8641080" y="5486400"/>
            <a:ext cx="411480" cy="411480"/>
          </a:xfrm>
          <a:prstGeom prst="ellipse">
            <a:avLst/>
          </a:prstGeom>
          <a:solidFill>
            <a:schemeClr val="accent1"/>
          </a:solidFill>
          <a:ln/>
        </p:spPr>
      </p:sp>
      <p:pic>
        <p:nvPicPr>
          <p:cNvPr id="52" name="icon-FiTerminal" descr="preencoded.png">    </p:cNvPr>
          <p:cNvPicPr>
            <a:picLocks noChangeAspect="1"/>
          </p:cNvPicPr>
          <p:nvPr/>
        </p:nvPicPr>
        <p:blipFill>
          <a:blip r:embed="rId4"/>
          <a:stretch>
            <a:fillRect/>
          </a:stretch>
        </p:blipFill>
        <p:spPr>
          <a:xfrm>
            <a:off x="8743950" y="5589270"/>
            <a:ext cx="205740" cy="205740"/>
          </a:xfrm>
          <a:prstGeom prst="rect">
            <a:avLst/>
          </a:prstGeom>
        </p:spPr>
      </p:pic>
      <p:sp>
        <p:nvSpPr>
          <p:cNvPr id="53" name="Text 47"/>
          <p:cNvSpPr txBox="1"/>
          <p:nvPr/>
        </p:nvSpPr>
        <p:spPr>
          <a:xfrm>
            <a:off x="9171432" y="5458968"/>
            <a:ext cx="2514600" cy="548640"/>
          </a:xfrm>
          <a:prstGeom prst="rect">
            <a:avLst/>
          </a:prstGeom>
          <a:noFill/>
          <a:ln/>
        </p:spPr>
        <p:txBody>
          <a:bodyPr wrap="square" lIns="0" tIns="0" rIns="0" bIns="0" rtlCol="0" anchor="t"/>
          <a:lstStyle/>
          <a:p>
            <a:pPr indent="0" marL="0">
              <a:buNone/>
            </a:pPr>
            <a:r>
              <a:rPr lang="en-US" sz="1200" b="1" dirty="0">
                <a:solidFill>
                  <a:schemeClr val="tx1"/>
                </a:solidFill>
              </a:rPr>
              <a:t>One command</a:t>
            </a:r>
            <a:endParaRPr lang="en-US" sz="1200" dirty="0"/>
          </a:p>
          <a:p>
            <a:pPr indent="0" marL="0">
              <a:buNone/>
            </a:pPr>
            <a:r>
              <a:rPr lang="en-US" sz="950" dirty="0">
                <a:solidFill>
                  <a:schemeClr val="tx2"/>
                </a:solidFill>
                <a:latin typeface="Courier New" pitchFamily="34" charset="0"/>
                <a:ea typeface="Courier New" pitchFamily="34" charset="-122"/>
                <a:cs typeface="Courier New" pitchFamily="34" charset="-120"/>
              </a:rPr>
              <a:t>python -m riskpulse demo --fast</a:t>
            </a:r>
            <a:endParaRPr lang="en-US" sz="12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050" b="1" spc="200" kern="0" dirty="0">
                <a:solidFill>
                  <a:schemeClr val="accent2"/>
                </a:solidFill>
                <a:latin typeface="Calibri" pitchFamily="34" charset="0"/>
                <a:ea typeface="Calibri" pitchFamily="34" charset="-122"/>
                <a:cs typeface="Calibri" pitchFamily="34" charset="-120"/>
              </a:rPr>
              <a:t>03   IMPLEMENTATION HIGHLIGHTS</a:t>
            </a:r>
            <a:endParaRPr lang="en-US" sz="1050" dirty="0"/>
          </a:p>
        </p:txBody>
      </p:sp>
      <p:sp>
        <p:nvSpPr>
          <p:cNvPr id="3" name="Text 0"/>
          <p:cNvSpPr/>
          <p:nvPr>
            <p:ph idx="101" type="title" hasCustomPrompt="1"/>
          </p:nvPr>
        </p:nvSpPr>
        <p:spPr>
          <a:xfrm>
            <a:off x="548640" y="566928"/>
            <a:ext cx="11091672" cy="822960"/>
          </a:xfrm>
          <a:prstGeom prst="rect">
            <a:avLst/>
          </a:prstGeom>
          <a:noFill/>
          <a:ln/>
        </p:spPr>
        <p:txBody>
          <a:bodyPr wrap="square" lIns="0" tIns="0" rIns="0" bIns="0" rtlCol="0" anchor="t"/>
          <a:lstStyle/>
          <a:p>
            <a:pPr algn="l" indent="0" marL="0">
              <a:buNone/>
            </a:pPr>
            <a:r>
              <a:rPr lang="en-US" sz="2500" b="1" dirty="0">
                <a:solidFill>
                  <a:schemeClr val="tx1"/>
                </a:solidFill>
                <a:latin typeface="Cambria" pitchFamily="34" charset="0"/>
                <a:ea typeface="Cambria" pitchFamily="34" charset="-122"/>
                <a:cs typeface="Cambria" pitchFamily="34" charset="-120"/>
              </a:rPr>
              <a:t>Four design choices that make the signals defensible in front of a risk committee</a:t>
            </a:r>
            <a:endParaRPr lang="en-US" sz="2500" dirty="0"/>
          </a:p>
        </p:txBody>
      </p:sp>
      <p:sp>
        <p:nvSpPr>
          <p:cNvPr id="4" name="card-0"/>
          <p:cNvSpPr/>
          <p:nvPr/>
        </p:nvSpPr>
        <p:spPr>
          <a:xfrm>
            <a:off x="548640" y="1600200"/>
            <a:ext cx="5449824" cy="1938528"/>
          </a:xfrm>
          <a:prstGeom prst="roundRect">
            <a:avLst>
              <a:gd name="adj" fmla="val 2830"/>
            </a:avLst>
          </a:prstGeom>
          <a:solidFill>
            <a:schemeClr val="bg2"/>
          </a:solidFill>
          <a:ln/>
        </p:spPr>
      </p:sp>
      <p:sp>
        <p:nvSpPr>
          <p:cNvPr id="5" name="icon-badge-FiSearch"/>
          <p:cNvSpPr/>
          <p:nvPr/>
        </p:nvSpPr>
        <p:spPr>
          <a:xfrm>
            <a:off x="777240" y="1828800"/>
            <a:ext cx="457200" cy="457200"/>
          </a:xfrm>
          <a:prstGeom prst="ellipse">
            <a:avLst/>
          </a:prstGeom>
          <a:solidFill>
            <a:schemeClr val="tx1"/>
          </a:solidFill>
          <a:ln/>
        </p:spPr>
      </p:sp>
      <p:pic>
        <p:nvPicPr>
          <p:cNvPr id="6" name="icon-FiSearch" descr="preencoded.png">    </p:cNvPr>
          <p:cNvPicPr>
            <a:picLocks noChangeAspect="1"/>
          </p:cNvPicPr>
          <p:nvPr/>
        </p:nvPicPr>
        <p:blipFill>
          <a:blip r:embed="rId1"/>
          <a:stretch>
            <a:fillRect/>
          </a:stretch>
        </p:blipFill>
        <p:spPr>
          <a:xfrm>
            <a:off x="891540" y="1943100"/>
            <a:ext cx="228600" cy="228600"/>
          </a:xfrm>
          <a:prstGeom prst="rect">
            <a:avLst/>
          </a:prstGeom>
        </p:spPr>
      </p:pic>
      <p:sp>
        <p:nvSpPr>
          <p:cNvPr id="7" name="Text 4"/>
          <p:cNvSpPr txBox="1"/>
          <p:nvPr/>
        </p:nvSpPr>
        <p:spPr>
          <a:xfrm>
            <a:off x="1371600" y="1847088"/>
            <a:ext cx="4443984" cy="411480"/>
          </a:xfrm>
          <a:prstGeom prst="rect">
            <a:avLst/>
          </a:prstGeom>
          <a:noFill/>
          <a:ln/>
        </p:spPr>
        <p:txBody>
          <a:bodyPr wrap="square" lIns="0" tIns="0" rIns="0" bIns="0" rtlCol="0" anchor="ctr"/>
          <a:lstStyle/>
          <a:p>
            <a:pPr indent="0" marL="0">
              <a:buNone/>
            </a:pPr>
            <a:r>
              <a:rPr lang="en-US" sz="1500" b="1" dirty="0">
                <a:solidFill>
                  <a:schemeClr val="tx1"/>
                </a:solidFill>
              </a:rPr>
              <a:t>Entity-level sentiment, routed by source</a:t>
            </a:r>
            <a:endParaRPr lang="en-US" sz="1500" dirty="0"/>
          </a:p>
        </p:txBody>
      </p:sp>
      <p:sp>
        <p:nvSpPr>
          <p:cNvPr id="8" name="Text 5"/>
          <p:cNvSpPr txBox="1"/>
          <p:nvPr/>
        </p:nvSpPr>
        <p:spPr>
          <a:xfrm>
            <a:off x="1371600" y="2331720"/>
            <a:ext cx="4398264" cy="1097280"/>
          </a:xfrm>
          <a:prstGeom prst="rect">
            <a:avLst/>
          </a:prstGeom>
          <a:noFill/>
          <a:ln/>
        </p:spPr>
        <p:txBody>
          <a:bodyPr wrap="square" lIns="0" tIns="0" rIns="0" bIns="0" rtlCol="0" anchor="t"/>
          <a:lstStyle/>
          <a:p>
            <a:pPr indent="0" marL="0">
              <a:spcAft>
                <a:spcPts val="500"/>
              </a:spcAft>
              <a:buNone/>
            </a:pPr>
            <a:r>
              <a:rPr lang="en-US" sz="1150" b="1" dirty="0">
                <a:solidFill>
                  <a:schemeClr val="tx1"/>
                </a:solidFill>
              </a:rPr>
              <a:t>What  </a:t>
            </a:r>
            <a:pPr indent="0" marL="0">
              <a:spcAft>
                <a:spcPts val="500"/>
              </a:spcAft>
              <a:buNone/>
            </a:pPr>
            <a:r>
              <a:rPr lang="en-US" sz="1150" dirty="0">
                <a:solidFill>
                  <a:schemeClr val="tx2"/>
                </a:solidFill>
              </a:rPr>
              <a:t>Scores only the sentences that mention each company. FinBERT handles news; a tweet-fine-tuned FinBERT handles tweets.</a:t>
            </a:r>
            <a:endParaRPr lang="en-US" sz="1150" dirty="0"/>
          </a:p>
          <a:p>
            <a:pPr indent="0" marL="0">
              <a:spcAft>
                <a:spcPts val="500"/>
              </a:spcAft>
              <a:buNone/>
            </a:pPr>
            <a:r>
              <a:rPr lang="en-US" sz="1150" b="1" dirty="0">
                <a:solidFill>
                  <a:schemeClr val="accent2"/>
                </a:solidFill>
              </a:rPr>
              <a:t>Why  </a:t>
            </a:r>
            <a:pPr indent="0" marL="0">
              <a:spcAft>
                <a:spcPts val="500"/>
              </a:spcAft>
              <a:buNone/>
            </a:pPr>
            <a:r>
              <a:rPr lang="en-US" sz="1150" dirty="0">
                <a:solidFill>
                  <a:schemeClr val="tx2"/>
                </a:solidFill>
              </a:rPr>
              <a:t>“Exxon posts record quarterly profit while Chevron cuts its outlook” scores XOM +0.64 and CVX −0.94; the whole sentence (−0.95) misreads Exxon. Routing chosen on 397 labelled news items.</a:t>
            </a:r>
            <a:endParaRPr lang="en-US" sz="1150" dirty="0"/>
          </a:p>
        </p:txBody>
      </p:sp>
      <p:sp>
        <p:nvSpPr>
          <p:cNvPr id="9" name="card-1"/>
          <p:cNvSpPr/>
          <p:nvPr/>
        </p:nvSpPr>
        <p:spPr>
          <a:xfrm>
            <a:off x="6190488" y="1600200"/>
            <a:ext cx="5449824" cy="1938528"/>
          </a:xfrm>
          <a:prstGeom prst="roundRect">
            <a:avLst>
              <a:gd name="adj" fmla="val 2830"/>
            </a:avLst>
          </a:prstGeom>
          <a:solidFill>
            <a:schemeClr val="bg2"/>
          </a:solidFill>
          <a:ln/>
        </p:spPr>
      </p:sp>
      <p:sp>
        <p:nvSpPr>
          <p:cNvPr id="10" name="icon-badge-FiActivity"/>
          <p:cNvSpPr/>
          <p:nvPr/>
        </p:nvSpPr>
        <p:spPr>
          <a:xfrm>
            <a:off x="6419088" y="1828800"/>
            <a:ext cx="457200" cy="457200"/>
          </a:xfrm>
          <a:prstGeom prst="ellipse">
            <a:avLst/>
          </a:prstGeom>
          <a:solidFill>
            <a:schemeClr val="tx1"/>
          </a:solidFill>
          <a:ln/>
        </p:spPr>
      </p:sp>
      <p:pic>
        <p:nvPicPr>
          <p:cNvPr id="11" name="icon-FiActivity" descr="preencoded.png">    </p:cNvPr>
          <p:cNvPicPr>
            <a:picLocks noChangeAspect="1"/>
          </p:cNvPicPr>
          <p:nvPr/>
        </p:nvPicPr>
        <p:blipFill>
          <a:blip r:embed="rId2"/>
          <a:stretch>
            <a:fillRect/>
          </a:stretch>
        </p:blipFill>
        <p:spPr>
          <a:xfrm>
            <a:off x="6533388" y="1943100"/>
            <a:ext cx="228600" cy="228600"/>
          </a:xfrm>
          <a:prstGeom prst="rect">
            <a:avLst/>
          </a:prstGeom>
        </p:spPr>
      </p:pic>
      <p:sp>
        <p:nvSpPr>
          <p:cNvPr id="12" name="Text 8"/>
          <p:cNvSpPr txBox="1"/>
          <p:nvPr/>
        </p:nvSpPr>
        <p:spPr>
          <a:xfrm>
            <a:off x="7013448" y="1847088"/>
            <a:ext cx="4443984" cy="411480"/>
          </a:xfrm>
          <a:prstGeom prst="rect">
            <a:avLst/>
          </a:prstGeom>
          <a:noFill/>
          <a:ln/>
        </p:spPr>
        <p:txBody>
          <a:bodyPr wrap="square" lIns="0" tIns="0" rIns="0" bIns="0" rtlCol="0" anchor="ctr"/>
          <a:lstStyle/>
          <a:p>
            <a:pPr indent="0" marL="0">
              <a:buNone/>
            </a:pPr>
            <a:r>
              <a:rPr lang="en-US" sz="1500" b="1" dirty="0">
                <a:solidFill>
                  <a:schemeClr val="tx1"/>
                </a:solidFill>
              </a:rPr>
              <a:t>Impact learned from market reactions</a:t>
            </a:r>
            <a:endParaRPr lang="en-US" sz="1500" dirty="0"/>
          </a:p>
        </p:txBody>
      </p:sp>
      <p:sp>
        <p:nvSpPr>
          <p:cNvPr id="13" name="Text 9"/>
          <p:cNvSpPr txBox="1"/>
          <p:nvPr/>
        </p:nvSpPr>
        <p:spPr>
          <a:xfrm>
            <a:off x="7013448" y="2331720"/>
            <a:ext cx="4398264" cy="1097280"/>
          </a:xfrm>
          <a:prstGeom prst="rect">
            <a:avLst/>
          </a:prstGeom>
          <a:noFill/>
          <a:ln/>
        </p:spPr>
        <p:txBody>
          <a:bodyPr wrap="square" lIns="0" tIns="0" rIns="0" bIns="0" rtlCol="0" anchor="t"/>
          <a:lstStyle/>
          <a:p>
            <a:pPr indent="0" marL="0">
              <a:spcAft>
                <a:spcPts val="500"/>
              </a:spcAft>
              <a:buNone/>
            </a:pPr>
            <a:r>
              <a:rPr lang="en-US" sz="1150" b="1" dirty="0">
                <a:solidFill>
                  <a:schemeClr val="tx1"/>
                </a:solidFill>
              </a:rPr>
              <a:t>What  </a:t>
            </a:r>
            <a:pPr indent="0" marL="0">
              <a:spcAft>
                <a:spcPts val="500"/>
              </a:spcAft>
              <a:buNone/>
            </a:pPr>
            <a:r>
              <a:rPr lang="en-US" sz="1150" dirty="0">
                <a:solidFill>
                  <a:schemeClr val="tx2"/>
                </a:solidFill>
              </a:rPr>
              <a:t>Monotone LightGBM on the seven formula drivers (event prior, sentiment, velocity, breadth, novelty, relevance, credibility) plus mention count, trained on 2009–18 headlines vs 2-day abnormal returns.</a:t>
            </a:r>
            <a:endParaRPr lang="en-US" sz="1150" dirty="0"/>
          </a:p>
          <a:p>
            <a:pPr indent="0" marL="0">
              <a:spcAft>
                <a:spcPts val="500"/>
              </a:spcAft>
              <a:buNone/>
            </a:pPr>
            <a:r>
              <a:rPr lang="en-US" sz="1150" b="1" dirty="0">
                <a:solidFill>
                  <a:schemeClr val="accent2"/>
                </a:solidFill>
              </a:rPr>
              <a:t>Why  </a:t>
            </a:r>
            <a:pPr indent="0" marL="0">
              <a:spcAft>
                <a:spcPts val="500"/>
              </a:spcAft>
              <a:buNone/>
            </a:pPr>
            <a:r>
              <a:rPr lang="en-US" sz="1150" dirty="0">
                <a:solidFill>
                  <a:schemeClr val="tx2"/>
                </a:solidFill>
              </a:rPr>
              <a:t>“Impact” has no ground-truth label, so the market supplies one. Every score shows its drivers.</a:t>
            </a:r>
            <a:endParaRPr lang="en-US" sz="1150" dirty="0"/>
          </a:p>
        </p:txBody>
      </p:sp>
      <p:sp>
        <p:nvSpPr>
          <p:cNvPr id="14" name="card-2"/>
          <p:cNvSpPr/>
          <p:nvPr/>
        </p:nvSpPr>
        <p:spPr>
          <a:xfrm>
            <a:off x="548640" y="3703320"/>
            <a:ext cx="5449824" cy="1938528"/>
          </a:xfrm>
          <a:prstGeom prst="roundRect">
            <a:avLst>
              <a:gd name="adj" fmla="val 2830"/>
            </a:avLst>
          </a:prstGeom>
          <a:solidFill>
            <a:schemeClr val="bg2"/>
          </a:solidFill>
          <a:ln/>
        </p:spPr>
      </p:sp>
      <p:sp>
        <p:nvSpPr>
          <p:cNvPr id="15" name="icon-badge-FiBriefcase"/>
          <p:cNvSpPr/>
          <p:nvPr/>
        </p:nvSpPr>
        <p:spPr>
          <a:xfrm>
            <a:off x="777240" y="3931920"/>
            <a:ext cx="457200" cy="457200"/>
          </a:xfrm>
          <a:prstGeom prst="ellipse">
            <a:avLst/>
          </a:prstGeom>
          <a:solidFill>
            <a:schemeClr val="tx1"/>
          </a:solidFill>
          <a:ln/>
        </p:spPr>
      </p:sp>
      <p:pic>
        <p:nvPicPr>
          <p:cNvPr id="16" name="icon-FiBriefcase" descr="preencoded.png">    </p:cNvPr>
          <p:cNvPicPr>
            <a:picLocks noChangeAspect="1"/>
          </p:cNvPicPr>
          <p:nvPr/>
        </p:nvPicPr>
        <p:blipFill>
          <a:blip r:embed="rId3"/>
          <a:stretch>
            <a:fillRect/>
          </a:stretch>
        </p:blipFill>
        <p:spPr>
          <a:xfrm>
            <a:off x="891540" y="4046220"/>
            <a:ext cx="228600" cy="228600"/>
          </a:xfrm>
          <a:prstGeom prst="rect">
            <a:avLst/>
          </a:prstGeom>
        </p:spPr>
      </p:pic>
      <p:sp>
        <p:nvSpPr>
          <p:cNvPr id="17" name="Text 12"/>
          <p:cNvSpPr txBox="1"/>
          <p:nvPr/>
        </p:nvSpPr>
        <p:spPr>
          <a:xfrm>
            <a:off x="1371600" y="3950208"/>
            <a:ext cx="4443984" cy="411480"/>
          </a:xfrm>
          <a:prstGeom prst="rect">
            <a:avLst/>
          </a:prstGeom>
          <a:noFill/>
          <a:ln/>
        </p:spPr>
        <p:txBody>
          <a:bodyPr wrap="square" lIns="0" tIns="0" rIns="0" bIns="0" rtlCol="0" anchor="ctr"/>
          <a:lstStyle/>
          <a:p>
            <a:pPr indent="0" marL="0">
              <a:buNone/>
            </a:pPr>
            <a:r>
              <a:rPr lang="en-US" sz="1500" b="1" dirty="0">
                <a:solidFill>
                  <a:schemeClr val="tx1"/>
                </a:solidFill>
              </a:rPr>
              <a:t>A stress engine in a risk team's language</a:t>
            </a:r>
            <a:endParaRPr lang="en-US" sz="1500" dirty="0"/>
          </a:p>
        </p:txBody>
      </p:sp>
      <p:sp>
        <p:nvSpPr>
          <p:cNvPr id="18" name="Text 13"/>
          <p:cNvSpPr txBox="1"/>
          <p:nvPr/>
        </p:nvSpPr>
        <p:spPr>
          <a:xfrm>
            <a:off x="1371600" y="4434840"/>
            <a:ext cx="4398264" cy="1097280"/>
          </a:xfrm>
          <a:prstGeom prst="rect">
            <a:avLst/>
          </a:prstGeom>
          <a:noFill/>
          <a:ln/>
        </p:spPr>
        <p:txBody>
          <a:bodyPr wrap="square" lIns="0" tIns="0" rIns="0" bIns="0" rtlCol="0" anchor="t"/>
          <a:lstStyle/>
          <a:p>
            <a:pPr indent="0" marL="0">
              <a:spcAft>
                <a:spcPts val="500"/>
              </a:spcAft>
              <a:buNone/>
            </a:pPr>
            <a:r>
              <a:rPr lang="en-US" sz="1150" b="1" dirty="0">
                <a:solidFill>
                  <a:schemeClr val="tx1"/>
                </a:solidFill>
              </a:rPr>
              <a:t>What  </a:t>
            </a:r>
            <a:pPr indent="0" marL="0">
              <a:spcAft>
                <a:spcPts val="500"/>
              </a:spcAft>
              <a:buNone/>
            </a:pPr>
            <a:r>
              <a:rPr lang="en-US" sz="1150" dirty="0">
                <a:solidFill>
                  <a:schemeClr val="tx2"/>
                </a:solidFill>
              </a:rPr>
              <a:t>Transaction-seeded synthetic book of loans, bonds, swaps, FX, options and CDS, repriced with duration/convexity, DV01 and PD × LGD × EAD, with CET1 from Basel CRE20 weights.</a:t>
            </a:r>
            <a:endParaRPr lang="en-US" sz="1150" dirty="0"/>
          </a:p>
          <a:p>
            <a:pPr indent="0" marL="0">
              <a:spcAft>
                <a:spcPts val="500"/>
              </a:spcAft>
              <a:buNone/>
            </a:pPr>
            <a:r>
              <a:rPr lang="en-US" sz="1150" b="1" dirty="0">
                <a:solidFill>
                  <a:schemeClr val="accent2"/>
                </a:solidFill>
              </a:rPr>
              <a:t>Why  </a:t>
            </a:r>
            <a:pPr indent="0" marL="0">
              <a:spcAft>
                <a:spcPts val="500"/>
              </a:spcAft>
              <a:buNone/>
            </a:pPr>
            <a:r>
              <a:rPr lang="en-US" sz="1150" dirty="0">
                <a:solidFill>
                  <a:schemeClr val="tx2"/>
                </a:solidFill>
              </a:rPr>
              <a:t>Shocks are calibrated only on pre-September-2021 episodes, so 2022 is a genuine out-of-sample test.</a:t>
            </a:r>
            <a:endParaRPr lang="en-US" sz="1150" dirty="0"/>
          </a:p>
        </p:txBody>
      </p:sp>
      <p:sp>
        <p:nvSpPr>
          <p:cNvPr id="19" name="card-3"/>
          <p:cNvSpPr/>
          <p:nvPr/>
        </p:nvSpPr>
        <p:spPr>
          <a:xfrm>
            <a:off x="6190488" y="3703320"/>
            <a:ext cx="5449824" cy="1938528"/>
          </a:xfrm>
          <a:prstGeom prst="roundRect">
            <a:avLst>
              <a:gd name="adj" fmla="val 2830"/>
            </a:avLst>
          </a:prstGeom>
          <a:solidFill>
            <a:schemeClr val="bg2"/>
          </a:solidFill>
          <a:ln/>
        </p:spPr>
      </p:sp>
      <p:sp>
        <p:nvSpPr>
          <p:cNvPr id="20" name="icon-badge-FiSliders"/>
          <p:cNvSpPr/>
          <p:nvPr/>
        </p:nvSpPr>
        <p:spPr>
          <a:xfrm>
            <a:off x="6419088" y="3931920"/>
            <a:ext cx="457200" cy="457200"/>
          </a:xfrm>
          <a:prstGeom prst="ellipse">
            <a:avLst/>
          </a:prstGeom>
          <a:solidFill>
            <a:schemeClr val="tx1"/>
          </a:solidFill>
          <a:ln/>
        </p:spPr>
      </p:sp>
      <p:pic>
        <p:nvPicPr>
          <p:cNvPr id="21" name="icon-FiSliders" descr="preencoded.png">    </p:cNvPr>
          <p:cNvPicPr>
            <a:picLocks noChangeAspect="1"/>
          </p:cNvPicPr>
          <p:nvPr/>
        </p:nvPicPr>
        <p:blipFill>
          <a:blip r:embed="rId4"/>
          <a:stretch>
            <a:fillRect/>
          </a:stretch>
        </p:blipFill>
        <p:spPr>
          <a:xfrm>
            <a:off x="6533388" y="4046220"/>
            <a:ext cx="228600" cy="228600"/>
          </a:xfrm>
          <a:prstGeom prst="rect">
            <a:avLst/>
          </a:prstGeom>
        </p:spPr>
      </p:pic>
      <p:sp>
        <p:nvSpPr>
          <p:cNvPr id="22" name="Text 16"/>
          <p:cNvSpPr txBox="1"/>
          <p:nvPr/>
        </p:nvSpPr>
        <p:spPr>
          <a:xfrm>
            <a:off x="7013448" y="3950208"/>
            <a:ext cx="4443984" cy="411480"/>
          </a:xfrm>
          <a:prstGeom prst="rect">
            <a:avLst/>
          </a:prstGeom>
          <a:noFill/>
          <a:ln/>
        </p:spPr>
        <p:txBody>
          <a:bodyPr wrap="square" lIns="0" tIns="0" rIns="0" bIns="0" rtlCol="0" anchor="ctr"/>
          <a:lstStyle/>
          <a:p>
            <a:pPr indent="0" marL="0">
              <a:buNone/>
            </a:pPr>
            <a:r>
              <a:rPr lang="en-US" sz="1500" b="1" dirty="0">
                <a:solidFill>
                  <a:schemeClr val="tx1"/>
                </a:solidFill>
              </a:rPr>
              <a:t>A rebalancer built like a real mandate</a:t>
            </a:r>
            <a:endParaRPr lang="en-US" sz="1500" dirty="0"/>
          </a:p>
        </p:txBody>
      </p:sp>
      <p:sp>
        <p:nvSpPr>
          <p:cNvPr id="23" name="Text 17"/>
          <p:cNvSpPr txBox="1"/>
          <p:nvPr/>
        </p:nvSpPr>
        <p:spPr>
          <a:xfrm>
            <a:off x="7013448" y="4434840"/>
            <a:ext cx="4398264" cy="1097280"/>
          </a:xfrm>
          <a:prstGeom prst="rect">
            <a:avLst/>
          </a:prstGeom>
          <a:noFill/>
          <a:ln/>
        </p:spPr>
        <p:txBody>
          <a:bodyPr wrap="square" lIns="0" tIns="0" rIns="0" bIns="0" rtlCol="0" anchor="t"/>
          <a:lstStyle/>
          <a:p>
            <a:pPr indent="0" marL="0">
              <a:spcAft>
                <a:spcPts val="500"/>
              </a:spcAft>
              <a:buNone/>
            </a:pPr>
            <a:r>
              <a:rPr lang="en-US" sz="1150" b="1" dirty="0">
                <a:solidFill>
                  <a:schemeClr val="tx1"/>
                </a:solidFill>
              </a:rPr>
              <a:t>What  </a:t>
            </a:r>
            <a:pPr indent="0" marL="0">
              <a:spcAft>
                <a:spcPts val="500"/>
              </a:spcAft>
              <a:buNone/>
            </a:pPr>
            <a:r>
              <a:rPr lang="en-US" sz="1150" dirty="0">
                <a:solidFill>
                  <a:schemeClr val="tx2"/>
                </a:solidFill>
              </a:rPr>
              <a:t>Tilt w·exp(κ·s·c), with κ fixed by a 1.5% active-weight risk budget, never by returns. Daily turnover capped at 5%; trading costs charged.</a:t>
            </a:r>
            <a:endParaRPr lang="en-US" sz="1150" dirty="0"/>
          </a:p>
          <a:p>
            <a:pPr indent="0" marL="0">
              <a:spcAft>
                <a:spcPts val="500"/>
              </a:spcAft>
              <a:buNone/>
            </a:pPr>
            <a:r>
              <a:rPr lang="en-US" sz="1150" b="1" dirty="0">
                <a:solidFill>
                  <a:schemeClr val="accent2"/>
                </a:solidFill>
              </a:rPr>
              <a:t>Why  </a:t>
            </a:r>
            <a:pPr indent="0" marL="0">
              <a:spcAft>
                <a:spcPts val="500"/>
              </a:spcAft>
              <a:buNone/>
            </a:pPr>
            <a:r>
              <a:rPr lang="en-US" sz="1150" dirty="0">
                <a:solidFill>
                  <a:schemeClr val="tx2"/>
                </a:solidFill>
              </a:rPr>
              <a:t>Avoids overfitting the test year and keeps turnover realistic for a real index.</a:t>
            </a:r>
            <a:endParaRPr lang="en-US" sz="1150" dirty="0"/>
          </a:p>
        </p:txBody>
      </p:sp>
      <p:sp>
        <p:nvSpPr>
          <p:cNvPr id="24" name="Text 18"/>
          <p:cNvSpPr txBox="1"/>
          <p:nvPr/>
        </p:nvSpPr>
        <p:spPr>
          <a:xfrm>
            <a:off x="548640" y="5824728"/>
            <a:ext cx="11091672" cy="256032"/>
          </a:xfrm>
          <a:prstGeom prst="rect">
            <a:avLst/>
          </a:prstGeom>
          <a:noFill/>
          <a:ln/>
        </p:spPr>
        <p:txBody>
          <a:bodyPr wrap="square" lIns="0" tIns="0" rIns="0" bIns="0" rtlCol="0" anchor="ctr"/>
          <a:lstStyle/>
          <a:p>
            <a:pPr indent="0" marL="0">
              <a:buNone/>
            </a:pPr>
            <a:r>
              <a:rPr lang="en-US" sz="1150" b="1" dirty="0">
                <a:solidFill>
                  <a:schemeClr val="tx1"/>
                </a:solidFill>
              </a:rPr>
              <a:t>Discipline:  </a:t>
            </a:r>
            <a:pPr indent="0" marL="0">
              <a:buNone/>
            </a:pPr>
            <a:r>
              <a:rPr lang="en-US" sz="1150" dirty="0">
                <a:solidFill>
                  <a:schemeClr val="tx2"/>
                </a:solidFill>
              </a:rPr>
              <a:t>decision rules pre-registered before each test  ·  every look at the 2021–22 test window logged  ·  500 human labels + 100 entity checks</a:t>
            </a:r>
            <a:endParaRPr lang="en-US" sz="1150" dirty="0"/>
          </a:p>
        </p:txBody>
      </p:sp>
      <p:sp>
        <p:nvSpPr>
          <p:cNvPr id="25" name="Text 19"/>
          <p:cNvSpPr txBox="1"/>
          <p:nvPr/>
        </p:nvSpPr>
        <p:spPr>
          <a:xfrm>
            <a:off x="548640" y="6080760"/>
            <a:ext cx="11091672" cy="237744"/>
          </a:xfrm>
          <a:prstGeom prst="rect">
            <a:avLst/>
          </a:prstGeom>
          <a:noFill/>
          <a:ln/>
        </p:spPr>
        <p:txBody>
          <a:bodyPr wrap="square" lIns="0" tIns="0" rIns="0" bIns="0" rtlCol="0" anchor="ctr"/>
          <a:lstStyle/>
          <a:p>
            <a:pPr indent="0" marL="0">
              <a:buNone/>
            </a:pPr>
            <a:r>
              <a:rPr lang="en-US" sz="1000" dirty="0">
                <a:solidFill>
                  <a:schemeClr val="accent5"/>
                </a:solidFill>
              </a:rPr>
              <a:t>Stack: Python 3.11 · transformers (FinBERT) · sentence-transformers · LightGBM · DuckDB · FastAPI + SSE · Streamlit + Plotly · pytest</a:t>
            </a:r>
            <a:endParaRPr lang="en-US" sz="10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050" b="1" spc="200" kern="0" dirty="0">
                <a:solidFill>
                  <a:schemeClr val="accent2"/>
                </a:solidFill>
                <a:latin typeface="Calibri" pitchFamily="34" charset="0"/>
                <a:ea typeface="Calibri" pitchFamily="34" charset="-122"/>
                <a:cs typeface="Calibri" pitchFamily="34" charset="-120"/>
              </a:rPr>
              <a:t>04   KEY RESULTS</a:t>
            </a:r>
            <a:endParaRPr lang="en-US" sz="1050" dirty="0"/>
          </a:p>
        </p:txBody>
      </p:sp>
      <p:sp>
        <p:nvSpPr>
          <p:cNvPr id="3" name="Text 0"/>
          <p:cNvSpPr/>
          <p:nvPr>
            <p:ph idx="101" type="title" hasCustomPrompt="1"/>
          </p:nvPr>
        </p:nvSpPr>
        <p:spPr>
          <a:xfrm>
            <a:off x="548640" y="566928"/>
            <a:ext cx="11091672" cy="822960"/>
          </a:xfrm>
          <a:prstGeom prst="rect">
            <a:avLst/>
          </a:prstGeom>
          <a:noFill/>
          <a:ln/>
        </p:spPr>
        <p:txBody>
          <a:bodyPr wrap="square" lIns="0" tIns="0" rIns="0" bIns="0" rtlCol="0" anchor="t"/>
          <a:lstStyle/>
          <a:p>
            <a:pPr algn="l" indent="0" marL="0">
              <a:buNone/>
            </a:pPr>
            <a:r>
              <a:rPr lang="en-US" sz="2500" b="1" dirty="0">
                <a:solidFill>
                  <a:schemeClr val="tx1"/>
                </a:solidFill>
                <a:latin typeface="Cambria" pitchFamily="34" charset="0"/>
                <a:ea typeface="Cambria" pitchFamily="34" charset="-122"/>
                <a:cs typeface="Cambria" pitchFamily="34" charset="-120"/>
              </a:rPr>
              <a:t>Measured against naive baselines on human-labelled and out-of-sample data; every look at the test window is logged</a:t>
            </a:r>
            <a:endParaRPr lang="en-US" sz="2500" dirty="0"/>
          </a:p>
        </p:txBody>
      </p:sp>
      <p:graphicFrame>
        <p:nvGraphicFramePr>
          <p:cNvPr id="4" name="chart-impact" descr=""/>
          <p:cNvGraphicFramePr/>
          <p:nvPr/>
        </p:nvGraphicFramePr>
        <p:xfrm>
          <a:off x="548640" y="1481328"/>
          <a:ext cx="5486400" cy="21031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sentiment" descr=""/>
          <p:cNvGraphicFramePr/>
          <p:nvPr/>
        </p:nvGraphicFramePr>
        <p:xfrm>
          <a:off x="548640" y="3703320"/>
          <a:ext cx="5486400" cy="2103120"/>
        </p:xfrm>
        <a:graphic xmlns:a="http://schemas.openxmlformats.org/drawingml/2006/main">
          <a:graphicData uri="http://schemas.openxmlformats.org/drawingml/2006/chart">
            <c:chart xmlns:c="http://schemas.openxmlformats.org/drawingml/2006/chart" r:id="rId2"/>
          </a:graphicData>
        </a:graphic>
      </p:graphicFrame>
      <p:sp>
        <p:nvSpPr>
          <p:cNvPr id="6" name="tile-0"/>
          <p:cNvSpPr/>
          <p:nvPr/>
        </p:nvSpPr>
        <p:spPr>
          <a:xfrm>
            <a:off x="6355080" y="1508760"/>
            <a:ext cx="2560320" cy="2029968"/>
          </a:xfrm>
          <a:prstGeom prst="roundRect">
            <a:avLst>
              <a:gd name="adj" fmla="val 2703"/>
            </a:avLst>
          </a:prstGeom>
          <a:solidFill>
            <a:schemeClr val="bg2"/>
          </a:solidFill>
          <a:ln/>
        </p:spPr>
      </p:sp>
      <p:sp>
        <p:nvSpPr>
          <p:cNvPr id="7" name="Text 3"/>
          <p:cNvSpPr txBox="1"/>
          <p:nvPr/>
        </p:nvSpPr>
        <p:spPr>
          <a:xfrm>
            <a:off x="6537960" y="1645920"/>
            <a:ext cx="219456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9 / 14</a:t>
            </a:r>
            <a:endParaRPr lang="en-US" sz="3400" dirty="0"/>
          </a:p>
        </p:txBody>
      </p:sp>
      <p:sp>
        <p:nvSpPr>
          <p:cNvPr id="8" name="Text 4"/>
          <p:cNvSpPr txBox="1"/>
          <p:nvPr/>
        </p:nvSpPr>
        <p:spPr>
          <a:xfrm>
            <a:off x="6537960" y="2350008"/>
            <a:ext cx="2194560" cy="658368"/>
          </a:xfrm>
          <a:prstGeom prst="rect">
            <a:avLst/>
          </a:prstGeom>
          <a:noFill/>
          <a:ln/>
        </p:spPr>
        <p:txBody>
          <a:bodyPr wrap="square" lIns="0" tIns="0" rIns="0" bIns="0" rtlCol="0" anchor="t"/>
          <a:lstStyle/>
          <a:p>
            <a:pPr indent="0" marL="0">
              <a:buNone/>
            </a:pPr>
            <a:r>
              <a:rPr lang="en-US" sz="1150" dirty="0">
                <a:solidFill>
                  <a:schemeClr val="tx2"/>
                </a:solidFill>
              </a:rPr>
              <a:t>market-factor directions right after the 2022 invasion trigger</a:t>
            </a:r>
            <a:endParaRPr lang="en-US" sz="1150" dirty="0"/>
          </a:p>
        </p:txBody>
      </p:sp>
      <p:sp>
        <p:nvSpPr>
          <p:cNvPr id="9" name="Text 5"/>
          <p:cNvSpPr txBox="1"/>
          <p:nvPr/>
        </p:nvSpPr>
        <p:spPr>
          <a:xfrm>
            <a:off x="6537960" y="2990088"/>
            <a:ext cx="2194560" cy="457200"/>
          </a:xfrm>
          <a:prstGeom prst="rect">
            <a:avLst/>
          </a:prstGeom>
          <a:noFill/>
          <a:ln/>
        </p:spPr>
        <p:txBody>
          <a:bodyPr wrap="square" lIns="0" tIns="0" rIns="0" bIns="0" rtlCol="0" anchor="t"/>
          <a:lstStyle/>
          <a:p>
            <a:pPr indent="0" marL="0">
              <a:buNone/>
            </a:pPr>
            <a:r>
              <a:rPr lang="en-US" sz="1000" i="1" dirty="0">
                <a:solidFill>
                  <a:schemeClr val="accent2"/>
                </a:solidFill>
              </a:rPr>
              <a:t>Out-of-sample: shocks calibrated on pre-Sep-2021 episodes only</a:t>
            </a:r>
            <a:endParaRPr lang="en-US" sz="1000" dirty="0"/>
          </a:p>
        </p:txBody>
      </p:sp>
      <p:sp>
        <p:nvSpPr>
          <p:cNvPr id="10" name="tile-1"/>
          <p:cNvSpPr/>
          <p:nvPr/>
        </p:nvSpPr>
        <p:spPr>
          <a:xfrm>
            <a:off x="9043416" y="1508760"/>
            <a:ext cx="2560320" cy="2029968"/>
          </a:xfrm>
          <a:prstGeom prst="roundRect">
            <a:avLst>
              <a:gd name="adj" fmla="val 2703"/>
            </a:avLst>
          </a:prstGeom>
          <a:solidFill>
            <a:schemeClr val="bg2"/>
          </a:solidFill>
          <a:ln/>
        </p:spPr>
      </p:sp>
      <p:sp>
        <p:nvSpPr>
          <p:cNvPr id="11" name="Text 7"/>
          <p:cNvSpPr txBox="1"/>
          <p:nvPr/>
        </p:nvSpPr>
        <p:spPr>
          <a:xfrm>
            <a:off x="9226296" y="1645920"/>
            <a:ext cx="219456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0.047</a:t>
            </a:r>
            <a:endParaRPr lang="en-US" sz="3400" dirty="0"/>
          </a:p>
        </p:txBody>
      </p:sp>
      <p:sp>
        <p:nvSpPr>
          <p:cNvPr id="12" name="Text 8"/>
          <p:cNvSpPr txBox="1"/>
          <p:nvPr/>
        </p:nvSpPr>
        <p:spPr>
          <a:xfrm>
            <a:off x="9226296" y="2350008"/>
            <a:ext cx="2194560" cy="658368"/>
          </a:xfrm>
          <a:prstGeom prst="rect">
            <a:avLst/>
          </a:prstGeom>
          <a:noFill/>
          <a:ln/>
        </p:spPr>
        <p:txBody>
          <a:bodyPr wrap="square" lIns="0" tIns="0" rIns="0" bIns="0" rtlCol="0" anchor="t"/>
          <a:lstStyle/>
          <a:p>
            <a:pPr indent="0" marL="0">
              <a:buNone/>
            </a:pPr>
            <a:r>
              <a:rPr lang="en-US" sz="1150" dirty="0">
                <a:solidFill>
                  <a:schemeClr val="tx2"/>
                </a:solidFill>
              </a:rPr>
              <a:t>information coefficient, sentiment vs next-day return (t = 2.85, 209 days)</a:t>
            </a:r>
            <a:endParaRPr lang="en-US" sz="1150" dirty="0"/>
          </a:p>
        </p:txBody>
      </p:sp>
      <p:sp>
        <p:nvSpPr>
          <p:cNvPr id="13" name="Text 9"/>
          <p:cNvSpPr txBox="1"/>
          <p:nvPr/>
        </p:nvSpPr>
        <p:spPr>
          <a:xfrm>
            <a:off x="9226296" y="2990088"/>
            <a:ext cx="2194560" cy="457200"/>
          </a:xfrm>
          <a:prstGeom prst="rect">
            <a:avLst/>
          </a:prstGeom>
          <a:noFill/>
          <a:ln/>
        </p:spPr>
        <p:txBody>
          <a:bodyPr wrap="square" lIns="0" tIns="0" rIns="0" bIns="0" rtlCol="0" anchor="t"/>
          <a:lstStyle/>
          <a:p>
            <a:pPr indent="0" marL="0">
              <a:buNone/>
            </a:pPr>
            <a:r>
              <a:rPr lang="en-US" sz="1000" i="1" dirty="0">
                <a:solidFill>
                  <a:schemeClr val="accent2"/>
                </a:solidFill>
              </a:rPr>
              <a:t>Tilt strength fixed without looking at returns</a:t>
            </a:r>
            <a:endParaRPr lang="en-US" sz="1000" dirty="0"/>
          </a:p>
        </p:txBody>
      </p:sp>
      <p:sp>
        <p:nvSpPr>
          <p:cNvPr id="14" name="tile-2"/>
          <p:cNvSpPr/>
          <p:nvPr/>
        </p:nvSpPr>
        <p:spPr>
          <a:xfrm>
            <a:off x="6355080" y="3685032"/>
            <a:ext cx="2560320" cy="2029968"/>
          </a:xfrm>
          <a:prstGeom prst="roundRect">
            <a:avLst>
              <a:gd name="adj" fmla="val 2703"/>
            </a:avLst>
          </a:prstGeom>
          <a:solidFill>
            <a:schemeClr val="bg2"/>
          </a:solidFill>
          <a:ln/>
        </p:spPr>
      </p:sp>
      <p:sp>
        <p:nvSpPr>
          <p:cNvPr id="15" name="Text 11"/>
          <p:cNvSpPr txBox="1"/>
          <p:nvPr/>
        </p:nvSpPr>
        <p:spPr>
          <a:xfrm>
            <a:off x="6537960" y="3822192"/>
            <a:ext cx="219456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82.0%</a:t>
            </a:r>
            <a:endParaRPr lang="en-US" sz="3400" dirty="0"/>
          </a:p>
        </p:txBody>
      </p:sp>
      <p:sp>
        <p:nvSpPr>
          <p:cNvPr id="16" name="Text 12"/>
          <p:cNvSpPr txBox="1"/>
          <p:nvPr/>
        </p:nvSpPr>
        <p:spPr>
          <a:xfrm>
            <a:off x="6537960" y="4526280"/>
            <a:ext cx="2194560" cy="658368"/>
          </a:xfrm>
          <a:prstGeom prst="rect">
            <a:avLst/>
          </a:prstGeom>
          <a:noFill/>
          <a:ln/>
        </p:spPr>
        <p:txBody>
          <a:bodyPr wrap="square" lIns="0" tIns="0" rIns="0" bIns="0" rtlCol="0" anchor="t"/>
          <a:lstStyle/>
          <a:p>
            <a:pPr indent="0" marL="0">
              <a:buNone/>
            </a:pPr>
            <a:r>
              <a:rPr lang="en-US" sz="1150" dirty="0">
                <a:solidFill>
                  <a:schemeClr val="tx2"/>
                </a:solidFill>
              </a:rPr>
              <a:t>entity-linking precision (95% CI 73.3–88.3%)</a:t>
            </a:r>
            <a:endParaRPr lang="en-US" sz="1150" dirty="0"/>
          </a:p>
        </p:txBody>
      </p:sp>
      <p:sp>
        <p:nvSpPr>
          <p:cNvPr id="17" name="Text 13"/>
          <p:cNvSpPr txBox="1"/>
          <p:nvPr/>
        </p:nvSpPr>
        <p:spPr>
          <a:xfrm>
            <a:off x="6537960" y="5166360"/>
            <a:ext cx="2194560" cy="457200"/>
          </a:xfrm>
          <a:prstGeom prst="rect">
            <a:avLst/>
          </a:prstGeom>
          <a:noFill/>
          <a:ln/>
        </p:spPr>
        <p:txBody>
          <a:bodyPr wrap="square" lIns="0" tIns="0" rIns="0" bIns="0" rtlCol="0" anchor="t"/>
          <a:lstStyle/>
          <a:p>
            <a:pPr indent="0" marL="0">
              <a:buNone/>
            </a:pPr>
            <a:r>
              <a:rPr lang="en-US" sz="1000" i="1" dirty="0">
                <a:solidFill>
                  <a:schemeClr val="accent2"/>
                </a:solidFill>
              </a:rPr>
              <a:t>100 human-checked links</a:t>
            </a:r>
            <a:endParaRPr lang="en-US" sz="1000" dirty="0"/>
          </a:p>
        </p:txBody>
      </p:sp>
      <p:sp>
        <p:nvSpPr>
          <p:cNvPr id="18" name="tile-3"/>
          <p:cNvSpPr/>
          <p:nvPr/>
        </p:nvSpPr>
        <p:spPr>
          <a:xfrm>
            <a:off x="9043416" y="3685032"/>
            <a:ext cx="2560320" cy="2029968"/>
          </a:xfrm>
          <a:prstGeom prst="roundRect">
            <a:avLst>
              <a:gd name="adj" fmla="val 2703"/>
            </a:avLst>
          </a:prstGeom>
          <a:solidFill>
            <a:schemeClr val="bg2"/>
          </a:solidFill>
          <a:ln/>
        </p:spPr>
      </p:sp>
      <p:sp>
        <p:nvSpPr>
          <p:cNvPr id="19" name="Text 15"/>
          <p:cNvSpPr txBox="1"/>
          <p:nvPr/>
        </p:nvSpPr>
        <p:spPr>
          <a:xfrm>
            <a:off x="9226296" y="3822192"/>
            <a:ext cx="219456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86.6/s</a:t>
            </a:r>
            <a:endParaRPr lang="en-US" sz="3400" dirty="0"/>
          </a:p>
        </p:txBody>
      </p:sp>
      <p:sp>
        <p:nvSpPr>
          <p:cNvPr id="20" name="Text 16"/>
          <p:cNvSpPr txBox="1"/>
          <p:nvPr/>
        </p:nvSpPr>
        <p:spPr>
          <a:xfrm>
            <a:off x="9226296" y="4526280"/>
            <a:ext cx="2194560" cy="658368"/>
          </a:xfrm>
          <a:prstGeom prst="rect">
            <a:avLst/>
          </a:prstGeom>
          <a:noFill/>
          <a:ln/>
        </p:spPr>
        <p:txBody>
          <a:bodyPr wrap="square" lIns="0" tIns="0" rIns="0" bIns="0" rtlCol="0" anchor="t"/>
          <a:lstStyle/>
          <a:p>
            <a:pPr indent="0" marL="0">
              <a:buNone/>
            </a:pPr>
            <a:r>
              <a:rPr lang="en-US" sz="1150" dirty="0">
                <a:solidFill>
                  <a:schemeClr val="tx2"/>
                </a:solidFill>
              </a:rPr>
              <a:t>documents per second; 21.3 ms p95 per document</a:t>
            </a:r>
            <a:endParaRPr lang="en-US" sz="1150" dirty="0"/>
          </a:p>
        </p:txBody>
      </p:sp>
      <p:sp>
        <p:nvSpPr>
          <p:cNvPr id="21" name="Text 17"/>
          <p:cNvSpPr txBox="1"/>
          <p:nvPr/>
        </p:nvSpPr>
        <p:spPr>
          <a:xfrm>
            <a:off x="9226296" y="5166360"/>
            <a:ext cx="2194560" cy="457200"/>
          </a:xfrm>
          <a:prstGeom prst="rect">
            <a:avLst/>
          </a:prstGeom>
          <a:noFill/>
          <a:ln/>
        </p:spPr>
        <p:txBody>
          <a:bodyPr wrap="square" lIns="0" tIns="0" rIns="0" bIns="0" rtlCol="0" anchor="t"/>
          <a:lstStyle/>
          <a:p>
            <a:pPr indent="0" marL="0">
              <a:buNone/>
            </a:pPr>
            <a:r>
              <a:rPr lang="en-US" sz="1000" i="1" dirty="0">
                <a:solidFill>
                  <a:schemeClr val="accent2"/>
                </a:solidFill>
              </a:rPr>
              <a:t>Laptop CPU, no GPU</a:t>
            </a:r>
            <a:endParaRPr lang="en-US" sz="1000" dirty="0"/>
          </a:p>
        </p:txBody>
      </p:sp>
      <p:sp>
        <p:nvSpPr>
          <p:cNvPr id="22" name="Text 18"/>
          <p:cNvSpPr txBox="1"/>
          <p:nvPr/>
        </p:nvSpPr>
        <p:spPr>
          <a:xfrm>
            <a:off x="548640" y="5897880"/>
            <a:ext cx="11091672" cy="411480"/>
          </a:xfrm>
          <a:prstGeom prst="rect">
            <a:avLst/>
          </a:prstGeom>
          <a:noFill/>
          <a:ln/>
        </p:spPr>
        <p:txBody>
          <a:bodyPr wrap="square" lIns="0" tIns="0" rIns="0" bIns="0" rtlCol="0" anchor="t"/>
          <a:lstStyle/>
          <a:p>
            <a:pPr indent="0" marL="0">
              <a:buNone/>
            </a:pPr>
            <a:r>
              <a:rPr lang="en-US" sz="1100" b="1" dirty="0">
                <a:solidFill>
                  <a:schemeClr val="tx1"/>
                </a:solidFill>
              </a:rPr>
              <a:t>Gains vs naive:  </a:t>
            </a:r>
            <a:pPr indent="0" marL="0">
              <a:buNone/>
            </a:pPr>
            <a:r>
              <a:rPr lang="en-US" sz="1100" dirty="0">
                <a:solidFill>
                  <a:schemeClr val="tx2"/>
                </a:solidFill>
              </a:rPr>
              <a:t>learned impact ≈ 2.0× the hand-set score's link to market moves  ·  FinBERT +0.121 macro-F1 over VADER  ·  3,382 high-impact items filtered to 345 stress tests a year  ·  dedup removes 39.0% of news</a:t>
            </a:r>
            <a:endParaRPr lang="en-US" sz="11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050" b="1" spc="200" kern="0" dirty="0">
                <a:solidFill>
                  <a:schemeClr val="accent2"/>
                </a:solidFill>
                <a:latin typeface="Calibri" pitchFamily="34" charset="0"/>
                <a:ea typeface="Calibri" pitchFamily="34" charset="-122"/>
                <a:cs typeface="Calibri" pitchFamily="34" charset="-120"/>
              </a:rPr>
              <a:t>05   DOMAIN IMPACT</a:t>
            </a:r>
            <a:endParaRPr lang="en-US" sz="1050" dirty="0"/>
          </a:p>
        </p:txBody>
      </p:sp>
      <p:sp>
        <p:nvSpPr>
          <p:cNvPr id="3" name="Text 0"/>
          <p:cNvSpPr/>
          <p:nvPr>
            <p:ph idx="101" type="title" hasCustomPrompt="1"/>
          </p:nvPr>
        </p:nvSpPr>
        <p:spPr>
          <a:xfrm>
            <a:off x="548640" y="566928"/>
            <a:ext cx="11091672" cy="822960"/>
          </a:xfrm>
          <a:prstGeom prst="rect">
            <a:avLst/>
          </a:prstGeom>
          <a:noFill/>
          <a:ln/>
        </p:spPr>
        <p:txBody>
          <a:bodyPr wrap="square" lIns="0" tIns="0" rIns="0" bIns="0" rtlCol="0" anchor="t"/>
          <a:lstStyle/>
          <a:p>
            <a:pPr algn="l" indent="0" marL="0">
              <a:buNone/>
            </a:pPr>
            <a:r>
              <a:rPr lang="en-US" sz="2500" b="1" dirty="0">
                <a:solidFill>
                  <a:schemeClr val="tx1"/>
                </a:solidFill>
                <a:latin typeface="Cambria" pitchFamily="34" charset="0"/>
                <a:ea typeface="Cambria" pitchFamily="34" charset="-122"/>
                <a:cs typeface="Cambria" pitchFamily="34" charset="-120"/>
              </a:rPr>
              <a:t>Built for the people who act on risk: an early warning with a full audit trail</a:t>
            </a:r>
            <a:endParaRPr lang="en-US" sz="2500" dirty="0"/>
          </a:p>
        </p:txBody>
      </p:sp>
      <p:sp>
        <p:nvSpPr>
          <p:cNvPr id="4" name="run-card"/>
          <p:cNvSpPr/>
          <p:nvPr/>
        </p:nvSpPr>
        <p:spPr>
          <a:xfrm>
            <a:off x="548640" y="1554480"/>
            <a:ext cx="5577840" cy="4526280"/>
          </a:xfrm>
          <a:prstGeom prst="roundRect">
            <a:avLst>
              <a:gd name="adj" fmla="val 1212"/>
            </a:avLst>
          </a:prstGeom>
          <a:solidFill>
            <a:schemeClr val="bg2"/>
          </a:solidFill>
          <a:ln/>
        </p:spPr>
      </p:sp>
      <p:sp>
        <p:nvSpPr>
          <p:cNvPr id="5" name="Text 3"/>
          <p:cNvSpPr txBox="1"/>
          <p:nvPr/>
        </p:nvSpPr>
        <p:spPr>
          <a:xfrm>
            <a:off x="822960" y="1755648"/>
            <a:ext cx="5029200" cy="256032"/>
          </a:xfrm>
          <a:prstGeom prst="rect">
            <a:avLst/>
          </a:prstGeom>
          <a:noFill/>
          <a:ln/>
        </p:spPr>
        <p:txBody>
          <a:bodyPr wrap="square" lIns="0" tIns="0" rIns="0" bIns="0" rtlCol="0" anchor="ctr"/>
          <a:lstStyle/>
          <a:p>
            <a:pPr indent="0" marL="0">
              <a:buNone/>
            </a:pPr>
            <a:r>
              <a:rPr lang="en-US" sz="1000" b="1" spc="150" kern="0" dirty="0">
                <a:solidFill>
                  <a:schemeClr val="accent2"/>
                </a:solidFill>
              </a:rPr>
              <a:t>INSIDE THE 24 FEB 2022 STRESS RUN</a:t>
            </a:r>
            <a:endParaRPr lang="en-US" sz="1000" dirty="0"/>
          </a:p>
        </p:txBody>
      </p:sp>
      <p:sp>
        <p:nvSpPr>
          <p:cNvPr id="6" name="Text 4"/>
          <p:cNvSpPr txBox="1"/>
          <p:nvPr/>
        </p:nvSpPr>
        <p:spPr>
          <a:xfrm>
            <a:off x="822960" y="2103120"/>
            <a:ext cx="2514600" cy="548640"/>
          </a:xfrm>
          <a:prstGeom prst="rect">
            <a:avLst/>
          </a:prstGeom>
          <a:noFill/>
          <a:ln/>
        </p:spPr>
        <p:txBody>
          <a:bodyPr wrap="square" lIns="0" tIns="0" rIns="0" bIns="0" rtlCol="0" anchor="ctr"/>
          <a:lstStyle/>
          <a:p>
            <a:pPr indent="0" marL="0">
              <a:buNone/>
            </a:pPr>
            <a:r>
              <a:rPr lang="en-US" sz="2400" b="1" dirty="0">
                <a:solidFill>
                  <a:schemeClr val="accent3"/>
                </a:solidFill>
                <a:latin typeface="Cambria" pitchFamily="34" charset="0"/>
                <a:ea typeface="Cambria" pitchFamily="34" charset="-122"/>
                <a:cs typeface="Cambria" pitchFamily="34" charset="-120"/>
              </a:rPr>
              <a:t>−USD 10.7 m</a:t>
            </a:r>
            <a:endParaRPr lang="en-US" sz="2400" dirty="0"/>
          </a:p>
        </p:txBody>
      </p:sp>
      <p:sp>
        <p:nvSpPr>
          <p:cNvPr id="7" name="Text 5"/>
          <p:cNvSpPr txBox="1"/>
          <p:nvPr/>
        </p:nvSpPr>
        <p:spPr>
          <a:xfrm>
            <a:off x="822960" y="2651760"/>
            <a:ext cx="2514600" cy="502920"/>
          </a:xfrm>
          <a:prstGeom prst="rect">
            <a:avLst/>
          </a:prstGeom>
          <a:noFill/>
          <a:ln/>
        </p:spPr>
        <p:txBody>
          <a:bodyPr wrap="square" lIns="0" tIns="0" rIns="0" bIns="0" rtlCol="0" anchor="t"/>
          <a:lstStyle/>
          <a:p>
            <a:pPr indent="0" marL="0">
              <a:buNone/>
            </a:pPr>
            <a:r>
              <a:rPr lang="en-US" sz="1100" dirty="0">
                <a:solidFill>
                  <a:schemeClr val="tx2"/>
                </a:solidFill>
              </a:rPr>
              <a:t>predicted P&amp;L on the</a:t>
            </a:r>
            <a:endParaRPr lang="en-US" sz="1100" dirty="0"/>
          </a:p>
          <a:p>
            <a:pPr indent="0" marL="0">
              <a:buNone/>
            </a:pPr>
            <a:r>
              <a:rPr lang="en-US" sz="1100" dirty="0">
                <a:solidFill>
                  <a:schemeClr val="tx2"/>
                </a:solidFill>
              </a:rPr>
              <a:t>USD 10 bn synthetic book</a:t>
            </a:r>
            <a:endParaRPr lang="en-US" sz="1100" dirty="0"/>
          </a:p>
        </p:txBody>
      </p:sp>
      <p:sp>
        <p:nvSpPr>
          <p:cNvPr id="8" name="Text 6"/>
          <p:cNvSpPr txBox="1"/>
          <p:nvPr/>
        </p:nvSpPr>
        <p:spPr>
          <a:xfrm>
            <a:off x="3429000" y="2103120"/>
            <a:ext cx="2514600" cy="5486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13.00%</a:t>
            </a:r>
            <a:pPr indent="0" marL="0">
              <a:buNone/>
            </a:pPr>
            <a:r>
              <a:rPr lang="en-US" sz="2000" b="1" dirty="0">
                <a:solidFill>
                  <a:schemeClr val="tx1"/>
                </a:solidFill>
                <a:latin typeface="Calibri" pitchFamily="34" charset="0"/>
                <a:ea typeface="Calibri" pitchFamily="34" charset="-122"/>
                <a:cs typeface="Calibri" pitchFamily="34" charset="-120"/>
              </a:rPr>
              <a:t>  →  </a:t>
            </a:r>
            <a:pPr indent="0" marL="0">
              <a:buNone/>
            </a:pPr>
            <a:r>
              <a:rPr lang="en-US" sz="2400" b="1" dirty="0">
                <a:solidFill>
                  <a:schemeClr val="tx1"/>
                </a:solidFill>
                <a:latin typeface="Cambria" pitchFamily="34" charset="0"/>
                <a:ea typeface="Cambria" pitchFamily="34" charset="-122"/>
                <a:cs typeface="Cambria" pitchFamily="34" charset="-120"/>
              </a:rPr>
              <a:t>12.98%</a:t>
            </a:r>
            <a:endParaRPr lang="en-US" sz="2400" dirty="0"/>
          </a:p>
        </p:txBody>
      </p:sp>
      <p:sp>
        <p:nvSpPr>
          <p:cNvPr id="9" name="Text 7"/>
          <p:cNvSpPr txBox="1"/>
          <p:nvPr/>
        </p:nvSpPr>
        <p:spPr>
          <a:xfrm>
            <a:off x="3429000" y="2651760"/>
            <a:ext cx="2514600" cy="502920"/>
          </a:xfrm>
          <a:prstGeom prst="rect">
            <a:avLst/>
          </a:prstGeom>
          <a:noFill/>
          <a:ln/>
        </p:spPr>
        <p:txBody>
          <a:bodyPr wrap="square" lIns="0" tIns="0" rIns="0" bIns="0" rtlCol="0" anchor="t"/>
          <a:lstStyle/>
          <a:p>
            <a:pPr indent="0" marL="0">
              <a:buNone/>
            </a:pPr>
            <a:r>
              <a:rPr lang="en-US" sz="1100" dirty="0">
                <a:solidFill>
                  <a:schemeClr val="tx2"/>
                </a:solidFill>
              </a:rPr>
              <a:t>CET1 ratio,</a:t>
            </a:r>
            <a:endParaRPr lang="en-US" sz="1100" dirty="0"/>
          </a:p>
          <a:p>
            <a:pPr indent="0" marL="0">
              <a:buNone/>
            </a:pPr>
            <a:r>
              <a:rPr lang="en-US" sz="1100" dirty="0">
                <a:solidFill>
                  <a:schemeClr val="tx2"/>
                </a:solidFill>
              </a:rPr>
              <a:t>before → after</a:t>
            </a:r>
            <a:endParaRPr lang="en-US" sz="1100" dirty="0"/>
          </a:p>
        </p:txBody>
      </p:sp>
      <p:sp>
        <p:nvSpPr>
          <p:cNvPr id="10" name="Text 8"/>
          <p:cNvSpPr txBox="1"/>
          <p:nvPr/>
        </p:nvSpPr>
        <p:spPr>
          <a:xfrm>
            <a:off x="822960" y="3291840"/>
            <a:ext cx="5029200" cy="457200"/>
          </a:xfrm>
          <a:prstGeom prst="rect">
            <a:avLst/>
          </a:prstGeom>
          <a:noFill/>
          <a:ln/>
        </p:spPr>
        <p:txBody>
          <a:bodyPr wrap="square" lIns="0" tIns="0" rIns="0" bIns="0" rtlCol="0" anchor="t"/>
          <a:lstStyle/>
          <a:p>
            <a:pPr indent="0" marL="0">
              <a:buNone/>
            </a:pPr>
            <a:r>
              <a:rPr lang="en-US" sz="1200" dirty="0">
                <a:solidFill>
                  <a:schemeClr val="tx2"/>
                </a:solidFill>
              </a:rPr>
              <a:t>Every shock is traced to a named historical analogue: </a:t>
            </a:r>
            <a:pPr indent="0" marL="0">
              <a:buNone/>
            </a:pPr>
            <a:r>
              <a:rPr lang="en-US" sz="1200" b="1" dirty="0">
                <a:solidFill>
                  <a:schemeClr val="tx1"/>
                </a:solidFill>
              </a:rPr>
              <a:t>Crimea 2014 · Brexit 2016 · Abqaiq 2019</a:t>
            </a:r>
            <a:endParaRPr lang="en-US" sz="1200" dirty="0"/>
          </a:p>
        </p:txBody>
      </p:sp>
      <p:sp>
        <p:nvSpPr>
          <p:cNvPr id="11" name="Text 9"/>
          <p:cNvSpPr txBox="1"/>
          <p:nvPr/>
        </p:nvSpPr>
        <p:spPr>
          <a:xfrm>
            <a:off x="822960" y="3886200"/>
            <a:ext cx="5029200" cy="274320"/>
          </a:xfrm>
          <a:prstGeom prst="rect">
            <a:avLst/>
          </a:prstGeom>
          <a:noFill/>
          <a:ln/>
        </p:spPr>
        <p:txBody>
          <a:bodyPr wrap="square" lIns="0" tIns="0" rIns="0" bIns="0" rtlCol="0" anchor="ctr"/>
          <a:lstStyle/>
          <a:p>
            <a:pPr indent="0" marL="0">
              <a:buNone/>
            </a:pPr>
            <a:r>
              <a:rPr lang="en-US" sz="1200" b="1" dirty="0">
                <a:solidFill>
                  <a:schemeClr val="tx1"/>
                </a:solidFill>
              </a:rPr>
              <a:t>Predicted vs realised, next 10 sessions</a:t>
            </a:r>
            <a:endParaRPr lang="en-US" sz="1200" dirty="0"/>
          </a:p>
        </p:txBody>
      </p:sp>
      <p:sp>
        <p:nvSpPr>
          <p:cNvPr id="12" name="Text 10"/>
          <p:cNvSpPr txBox="1"/>
          <p:nvPr/>
        </p:nvSpPr>
        <p:spPr>
          <a:xfrm>
            <a:off x="822960" y="4160520"/>
            <a:ext cx="5029200" cy="274320"/>
          </a:xfrm>
          <a:prstGeom prst="rect">
            <a:avLst/>
          </a:prstGeom>
          <a:noFill/>
          <a:ln/>
        </p:spPr>
        <p:txBody>
          <a:bodyPr wrap="square" lIns="0" tIns="0" rIns="0" bIns="0" rtlCol="0" anchor="ctr"/>
          <a:lstStyle/>
          <a:p>
            <a:pPr indent="0" marL="0">
              <a:buNone/>
            </a:pPr>
            <a:r>
              <a:rPr lang="en-US" sz="1100" dirty="0">
                <a:solidFill>
                  <a:schemeClr val="tx2"/>
                </a:solidFill>
              </a:rPr>
              <a:t>9 of 14 factor directions right. The biggest miss: oil.</a:t>
            </a:r>
            <a:endParaRPr lang="en-US" sz="1100" dirty="0"/>
          </a:p>
        </p:txBody>
      </p:sp>
      <p:sp>
        <p:nvSpPr>
          <p:cNvPr id="13" name="Text 11"/>
          <p:cNvSpPr txBox="1"/>
          <p:nvPr/>
        </p:nvSpPr>
        <p:spPr>
          <a:xfrm>
            <a:off x="822960" y="4572000"/>
            <a:ext cx="868680" cy="365760"/>
          </a:xfrm>
          <a:prstGeom prst="rect">
            <a:avLst/>
          </a:prstGeom>
          <a:noFill/>
          <a:ln/>
        </p:spPr>
        <p:txBody>
          <a:bodyPr wrap="square" lIns="0" tIns="0" rIns="0" bIns="0" rtlCol="0" anchor="ctr"/>
          <a:lstStyle/>
          <a:p>
            <a:pPr indent="0" marL="0">
              <a:buNone/>
            </a:pPr>
            <a:r>
              <a:rPr lang="en-US" sz="1100" dirty="0">
                <a:solidFill>
                  <a:schemeClr val="tx2"/>
                </a:solidFill>
              </a:rPr>
              <a:t>Predicted</a:t>
            </a:r>
            <a:endParaRPr lang="en-US" sz="1100" dirty="0"/>
          </a:p>
        </p:txBody>
      </p:sp>
      <p:sp>
        <p:nvSpPr>
          <p:cNvPr id="14" name="oil-Predicted"/>
          <p:cNvSpPr/>
          <p:nvPr/>
        </p:nvSpPr>
        <p:spPr>
          <a:xfrm>
            <a:off x="1737360" y="4617720"/>
            <a:ext cx="1089660" cy="274320"/>
          </a:xfrm>
          <a:prstGeom prst="rect">
            <a:avLst/>
          </a:prstGeom>
          <a:solidFill>
            <a:schemeClr val="accent5"/>
          </a:solidFill>
          <a:ln/>
        </p:spPr>
      </p:sp>
      <p:sp>
        <p:nvSpPr>
          <p:cNvPr id="15" name="Text 13"/>
          <p:cNvSpPr txBox="1"/>
          <p:nvPr/>
        </p:nvSpPr>
        <p:spPr>
          <a:xfrm>
            <a:off x="2918460" y="4572000"/>
            <a:ext cx="1097280" cy="365760"/>
          </a:xfrm>
          <a:prstGeom prst="rect">
            <a:avLst/>
          </a:prstGeom>
          <a:noFill/>
          <a:ln/>
        </p:spPr>
        <p:txBody>
          <a:bodyPr wrap="square" lIns="0" tIns="0" rIns="0" bIns="0" rtlCol="0" anchor="ctr"/>
          <a:lstStyle/>
          <a:p>
            <a:pPr indent="0" marL="0">
              <a:buNone/>
            </a:pPr>
            <a:r>
              <a:rPr lang="en-US" sz="1100" b="1" dirty="0">
                <a:solidFill>
                  <a:schemeClr val="tx1"/>
                </a:solidFill>
              </a:rPr>
              <a:t>Oil +6.5%</a:t>
            </a:r>
            <a:endParaRPr lang="en-US" sz="1100" dirty="0"/>
          </a:p>
        </p:txBody>
      </p:sp>
      <p:sp>
        <p:nvSpPr>
          <p:cNvPr id="16" name="Text 14"/>
          <p:cNvSpPr txBox="1"/>
          <p:nvPr/>
        </p:nvSpPr>
        <p:spPr>
          <a:xfrm>
            <a:off x="822960" y="5120640"/>
            <a:ext cx="868680" cy="365760"/>
          </a:xfrm>
          <a:prstGeom prst="rect">
            <a:avLst/>
          </a:prstGeom>
          <a:noFill/>
          <a:ln/>
        </p:spPr>
        <p:txBody>
          <a:bodyPr wrap="square" lIns="0" tIns="0" rIns="0" bIns="0" rtlCol="0" anchor="ctr"/>
          <a:lstStyle/>
          <a:p>
            <a:pPr indent="0" marL="0">
              <a:buNone/>
            </a:pPr>
            <a:r>
              <a:rPr lang="en-US" sz="1100" dirty="0">
                <a:solidFill>
                  <a:schemeClr val="tx2"/>
                </a:solidFill>
              </a:rPr>
              <a:t>Realised</a:t>
            </a:r>
            <a:endParaRPr lang="en-US" sz="1100" dirty="0"/>
          </a:p>
        </p:txBody>
      </p:sp>
      <p:sp>
        <p:nvSpPr>
          <p:cNvPr id="17" name="oil-Realised"/>
          <p:cNvSpPr/>
          <p:nvPr/>
        </p:nvSpPr>
        <p:spPr>
          <a:xfrm>
            <a:off x="1737360" y="5166360"/>
            <a:ext cx="3017520" cy="274320"/>
          </a:xfrm>
          <a:prstGeom prst="rect">
            <a:avLst/>
          </a:prstGeom>
          <a:solidFill>
            <a:schemeClr val="tx1"/>
          </a:solidFill>
          <a:ln/>
        </p:spPr>
      </p:sp>
      <p:sp>
        <p:nvSpPr>
          <p:cNvPr id="18" name="Text 16"/>
          <p:cNvSpPr txBox="1"/>
          <p:nvPr/>
        </p:nvSpPr>
        <p:spPr>
          <a:xfrm>
            <a:off x="4846320" y="5120640"/>
            <a:ext cx="1097280" cy="365760"/>
          </a:xfrm>
          <a:prstGeom prst="rect">
            <a:avLst/>
          </a:prstGeom>
          <a:noFill/>
          <a:ln/>
        </p:spPr>
        <p:txBody>
          <a:bodyPr wrap="square" lIns="0" tIns="0" rIns="0" bIns="0" rtlCol="0" anchor="ctr"/>
          <a:lstStyle/>
          <a:p>
            <a:pPr indent="0" marL="0">
              <a:buNone/>
            </a:pPr>
            <a:r>
              <a:rPr lang="en-US" sz="1100" b="1" dirty="0">
                <a:solidFill>
                  <a:schemeClr val="tx1"/>
                </a:solidFill>
              </a:rPr>
              <a:t>Oil +18.0%</a:t>
            </a:r>
            <a:endParaRPr lang="en-US" sz="1100" dirty="0"/>
          </a:p>
        </p:txBody>
      </p:sp>
      <p:sp>
        <p:nvSpPr>
          <p:cNvPr id="19" name="Text 17"/>
          <p:cNvSpPr txBox="1"/>
          <p:nvPr/>
        </p:nvSpPr>
        <p:spPr>
          <a:xfrm>
            <a:off x="6492240" y="1600200"/>
            <a:ext cx="4572000" cy="256032"/>
          </a:xfrm>
          <a:prstGeom prst="rect">
            <a:avLst/>
          </a:prstGeom>
          <a:noFill/>
          <a:ln/>
        </p:spPr>
        <p:txBody>
          <a:bodyPr wrap="square" lIns="0" tIns="0" rIns="0" bIns="0" rtlCol="0" anchor="ctr"/>
          <a:lstStyle/>
          <a:p>
            <a:pPr indent="0" marL="0">
              <a:buNone/>
            </a:pPr>
            <a:r>
              <a:rPr lang="en-US" sz="1000" b="1" spc="150" kern="0" dirty="0">
                <a:solidFill>
                  <a:schemeClr val="tx2"/>
                </a:solidFill>
              </a:rPr>
              <a:t>WHO ACTS ON IT</a:t>
            </a:r>
            <a:endParaRPr lang="en-US" sz="1000" dirty="0"/>
          </a:p>
        </p:txBody>
      </p:sp>
      <p:sp>
        <p:nvSpPr>
          <p:cNvPr id="20" name="icon-badge-FiShield"/>
          <p:cNvSpPr/>
          <p:nvPr/>
        </p:nvSpPr>
        <p:spPr>
          <a:xfrm>
            <a:off x="6492240" y="1965960"/>
            <a:ext cx="502920" cy="502920"/>
          </a:xfrm>
          <a:prstGeom prst="ellipse">
            <a:avLst/>
          </a:prstGeom>
          <a:solidFill>
            <a:schemeClr val="tx1"/>
          </a:solidFill>
          <a:ln/>
        </p:spPr>
      </p:sp>
      <p:pic>
        <p:nvPicPr>
          <p:cNvPr id="21" name="icon-FiShield" descr="preencoded.png">    </p:cNvPr>
          <p:cNvPicPr>
            <a:picLocks noChangeAspect="1"/>
          </p:cNvPicPr>
          <p:nvPr/>
        </p:nvPicPr>
        <p:blipFill>
          <a:blip r:embed="rId1"/>
          <a:stretch>
            <a:fillRect/>
          </a:stretch>
        </p:blipFill>
        <p:spPr>
          <a:xfrm>
            <a:off x="6617970" y="2091690"/>
            <a:ext cx="251460" cy="251460"/>
          </a:xfrm>
          <a:prstGeom prst="rect">
            <a:avLst/>
          </a:prstGeom>
        </p:spPr>
      </p:pic>
      <p:sp>
        <p:nvSpPr>
          <p:cNvPr id="22" name="Text 19"/>
          <p:cNvSpPr txBox="1"/>
          <p:nvPr/>
        </p:nvSpPr>
        <p:spPr>
          <a:xfrm>
            <a:off x="7178040" y="1920240"/>
            <a:ext cx="4462272" cy="1188720"/>
          </a:xfrm>
          <a:prstGeom prst="rect">
            <a:avLst/>
          </a:prstGeom>
          <a:noFill/>
          <a:ln/>
        </p:spPr>
        <p:txBody>
          <a:bodyPr wrap="square" lIns="0" tIns="0" rIns="0" bIns="0" rtlCol="0" anchor="t"/>
          <a:lstStyle/>
          <a:p>
            <a:pPr indent="0" marL="0">
              <a:buNone/>
            </a:pPr>
            <a:r>
              <a:rPr lang="en-US" sz="1450" b="1" dirty="0">
                <a:solidFill>
                  <a:schemeClr val="tx1"/>
                </a:solidFill>
              </a:rPr>
              <a:t>Credit and risk teams</a:t>
            </a:r>
            <a:pPr indent="0" marL="0">
              <a:buNone/>
            </a:pPr>
            <a:r>
              <a:rPr lang="en-US" sz="1050" b="1" dirty="0">
                <a:solidFill>
                  <a:schemeClr val="accent2"/>
                </a:solidFill>
              </a:rPr>
              <a:t>   Module B</a:t>
            </a:r>
            <a:endParaRPr lang="en-US" sz="1450" dirty="0"/>
          </a:p>
          <a:p>
            <a:pPr indent="0" marL="0">
              <a:buNone/>
            </a:pPr>
            <a:r>
              <a:rPr lang="en-US" sz="1200" dirty="0">
                <a:solidFill>
                  <a:schemeClr val="tx2"/>
                </a:solidFill>
              </a:rPr>
              <a:t>An adverse, multi-source event triggers a stress test with P&amp;L, ΔEL and CET1, each shock traced to its analogue.</a:t>
            </a:r>
            <a:endParaRPr lang="en-US" sz="1450" dirty="0"/>
          </a:p>
        </p:txBody>
      </p:sp>
      <p:sp>
        <p:nvSpPr>
          <p:cNvPr id="23" name="icon-badge-FiTrendingUp"/>
          <p:cNvSpPr/>
          <p:nvPr/>
        </p:nvSpPr>
        <p:spPr>
          <a:xfrm>
            <a:off x="6492240" y="3337560"/>
            <a:ext cx="502920" cy="502920"/>
          </a:xfrm>
          <a:prstGeom prst="ellipse">
            <a:avLst/>
          </a:prstGeom>
          <a:solidFill>
            <a:schemeClr val="tx1"/>
          </a:solidFill>
          <a:ln/>
        </p:spPr>
      </p:sp>
      <p:pic>
        <p:nvPicPr>
          <p:cNvPr id="24" name="icon-FiTrendingUp" descr="preencoded.png">    </p:cNvPr>
          <p:cNvPicPr>
            <a:picLocks noChangeAspect="1"/>
          </p:cNvPicPr>
          <p:nvPr/>
        </p:nvPicPr>
        <p:blipFill>
          <a:blip r:embed="rId2"/>
          <a:stretch>
            <a:fillRect/>
          </a:stretch>
        </p:blipFill>
        <p:spPr>
          <a:xfrm>
            <a:off x="6617970" y="3463290"/>
            <a:ext cx="251460" cy="251460"/>
          </a:xfrm>
          <a:prstGeom prst="rect">
            <a:avLst/>
          </a:prstGeom>
        </p:spPr>
      </p:pic>
      <p:sp>
        <p:nvSpPr>
          <p:cNvPr id="25" name="Text 21"/>
          <p:cNvSpPr txBox="1"/>
          <p:nvPr/>
        </p:nvSpPr>
        <p:spPr>
          <a:xfrm>
            <a:off x="7178040" y="3291840"/>
            <a:ext cx="4462272" cy="1188720"/>
          </a:xfrm>
          <a:prstGeom prst="rect">
            <a:avLst/>
          </a:prstGeom>
          <a:noFill/>
          <a:ln/>
        </p:spPr>
        <p:txBody>
          <a:bodyPr wrap="square" lIns="0" tIns="0" rIns="0" bIns="0" rtlCol="0" anchor="t"/>
          <a:lstStyle/>
          <a:p>
            <a:pPr indent="0" marL="0">
              <a:buNone/>
            </a:pPr>
            <a:r>
              <a:rPr lang="en-US" sz="1450" b="1" dirty="0">
                <a:solidFill>
                  <a:schemeClr val="tx1"/>
                </a:solidFill>
              </a:rPr>
              <a:t>Portfolio managers</a:t>
            </a:r>
            <a:pPr indent="0" marL="0">
              <a:buNone/>
            </a:pPr>
            <a:r>
              <a:rPr lang="en-US" sz="1050" b="1" dirty="0">
                <a:solidFill>
                  <a:schemeClr val="accent2"/>
                </a:solidFill>
              </a:rPr>
              <a:t>   Module A</a:t>
            </a:r>
            <a:endParaRPr lang="en-US" sz="1450" dirty="0"/>
          </a:p>
          <a:p>
            <a:pPr indent="0" marL="0">
              <a:buNone/>
            </a:pPr>
            <a:r>
              <a:rPr lang="en-US" sz="1200" dirty="0">
                <a:solidFill>
                  <a:schemeClr val="tx2"/>
                </a:solidFill>
              </a:rPr>
              <a:t>Sentiment-tilted index weights with the headlines behind every move. Turnover capped at 5% a day; cost drag 0.5%.</a:t>
            </a:r>
            <a:endParaRPr lang="en-US" sz="1450" dirty="0"/>
          </a:p>
        </p:txBody>
      </p:sp>
      <p:sp>
        <p:nvSpPr>
          <p:cNvPr id="26" name="icon-badge-FiCrosshair"/>
          <p:cNvSpPr/>
          <p:nvPr/>
        </p:nvSpPr>
        <p:spPr>
          <a:xfrm>
            <a:off x="6492240" y="4709160"/>
            <a:ext cx="502920" cy="502920"/>
          </a:xfrm>
          <a:prstGeom prst="ellipse">
            <a:avLst/>
          </a:prstGeom>
          <a:solidFill>
            <a:schemeClr val="tx1"/>
          </a:solidFill>
          <a:ln/>
        </p:spPr>
      </p:sp>
      <p:pic>
        <p:nvPicPr>
          <p:cNvPr id="27" name="icon-FiCrosshair" descr="preencoded.png">    </p:cNvPr>
          <p:cNvPicPr>
            <a:picLocks noChangeAspect="1"/>
          </p:cNvPicPr>
          <p:nvPr/>
        </p:nvPicPr>
        <p:blipFill>
          <a:blip r:embed="rId3"/>
          <a:stretch>
            <a:fillRect/>
          </a:stretch>
        </p:blipFill>
        <p:spPr>
          <a:xfrm>
            <a:off x="6617970" y="4834890"/>
            <a:ext cx="251460" cy="251460"/>
          </a:xfrm>
          <a:prstGeom prst="rect">
            <a:avLst/>
          </a:prstGeom>
        </p:spPr>
      </p:pic>
      <p:sp>
        <p:nvSpPr>
          <p:cNvPr id="28" name="Text 23"/>
          <p:cNvSpPr txBox="1"/>
          <p:nvPr/>
        </p:nvSpPr>
        <p:spPr>
          <a:xfrm>
            <a:off x="7178040" y="4663440"/>
            <a:ext cx="4462272" cy="1188720"/>
          </a:xfrm>
          <a:prstGeom prst="rect">
            <a:avLst/>
          </a:prstGeom>
          <a:noFill/>
          <a:ln/>
        </p:spPr>
        <p:txBody>
          <a:bodyPr wrap="square" lIns="0" tIns="0" rIns="0" bIns="0" rtlCol="0" anchor="t"/>
          <a:lstStyle/>
          <a:p>
            <a:pPr indent="0" marL="0">
              <a:buNone/>
            </a:pPr>
            <a:r>
              <a:rPr lang="en-US" sz="1450" b="1" dirty="0">
                <a:solidFill>
                  <a:schemeClr val="tx1"/>
                </a:solidFill>
              </a:rPr>
              <a:t>Analysts</a:t>
            </a:r>
            <a:pPr indent="0" marL="0">
              <a:buNone/>
            </a:pPr>
            <a:r>
              <a:rPr lang="en-US" sz="1050" b="1" dirty="0">
                <a:solidFill>
                  <a:schemeClr val="accent2"/>
                </a:solidFill>
              </a:rPr>
              <a:t>   Signal Monitor</a:t>
            </a:r>
            <a:endParaRPr lang="en-US" sz="1450" dirty="0"/>
          </a:p>
          <a:p>
            <a:pPr indent="0" marL="0">
              <a:buNone/>
            </a:pPr>
            <a:r>
              <a:rPr lang="en-US" sz="1200" dirty="0">
                <a:solidFill>
                  <a:schemeClr val="tx2"/>
                </a:solidFill>
              </a:rPr>
              <a:t>One screen shows why a story scores 8/10: drivers, sources and evidence. Any headline can be scored live.</a:t>
            </a:r>
            <a:endParaRPr lang="en-US" sz="1450" dirty="0"/>
          </a:p>
        </p:txBody>
      </p:sp>
      <p:sp>
        <p:nvSpPr>
          <p:cNvPr id="29" name="Text 24"/>
          <p:cNvSpPr txBox="1"/>
          <p:nvPr/>
        </p:nvSpPr>
        <p:spPr>
          <a:xfrm>
            <a:off x="6492240" y="5852160"/>
            <a:ext cx="5148072" cy="228600"/>
          </a:xfrm>
          <a:prstGeom prst="rect">
            <a:avLst/>
          </a:prstGeom>
          <a:noFill/>
          <a:ln/>
        </p:spPr>
        <p:txBody>
          <a:bodyPr wrap="square" lIns="0" tIns="0" rIns="0" bIns="0" rtlCol="0" anchor="ctr"/>
          <a:lstStyle/>
          <a:p>
            <a:pPr indent="0" marL="0">
              <a:buNone/>
            </a:pPr>
            <a:r>
              <a:rPr lang="en-US" sz="950" i="1" dirty="0">
                <a:solidFill>
                  <a:schemeClr val="accent5"/>
                </a:solidFill>
              </a:rPr>
              <a:t>All counterparties are synthetic (CP_xxxx). No client or confidential data is used.  Source: reports/metrics.json</a:t>
            </a:r>
            <a:endParaRPr lang="en-US" sz="95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050" b="1" spc="200" kern="0" dirty="0">
                <a:solidFill>
                  <a:schemeClr val="accent2"/>
                </a:solidFill>
                <a:latin typeface="Calibri" pitchFamily="34" charset="0"/>
                <a:ea typeface="Calibri" pitchFamily="34" charset="-122"/>
                <a:cs typeface="Calibri" pitchFamily="34" charset="-120"/>
              </a:rPr>
              <a:t>06   LIMITATIONS &amp; NEXT STEPS</a:t>
            </a:r>
            <a:endParaRPr lang="en-US" sz="1050" dirty="0"/>
          </a:p>
        </p:txBody>
      </p:sp>
      <p:sp>
        <p:nvSpPr>
          <p:cNvPr id="3" name="Text 0"/>
          <p:cNvSpPr/>
          <p:nvPr>
            <p:ph idx="101" type="title" hasCustomPrompt="1"/>
          </p:nvPr>
        </p:nvSpPr>
        <p:spPr>
          <a:xfrm>
            <a:off x="548640" y="566928"/>
            <a:ext cx="11091672" cy="822960"/>
          </a:xfrm>
          <a:prstGeom prst="rect">
            <a:avLst/>
          </a:prstGeom>
          <a:noFill/>
          <a:ln/>
        </p:spPr>
        <p:txBody>
          <a:bodyPr wrap="square" lIns="0" tIns="0" rIns="0" bIns="0" rtlCol="0" anchor="t"/>
          <a:lstStyle/>
          <a:p>
            <a:pPr algn="l" indent="0" marL="0">
              <a:buNone/>
            </a:pPr>
            <a:r>
              <a:rPr lang="en-US" sz="2500" b="1" dirty="0">
                <a:solidFill>
                  <a:schemeClr val="tx1"/>
                </a:solidFill>
                <a:latin typeface="Cambria" pitchFamily="34" charset="0"/>
                <a:ea typeface="Cambria" pitchFamily="34" charset="-122"/>
                <a:cs typeface="Cambria" pitchFamily="34" charset="-120"/>
              </a:rPr>
              <a:t>Where it breaks, why, and what comes next</a:t>
            </a:r>
            <a:endParaRPr lang="en-US" sz="2500" dirty="0"/>
          </a:p>
        </p:txBody>
      </p:sp>
      <p:graphicFrame>
        <p:nvGraphicFramePr>
          <p:cNvPr id="8" name="limitations-table"/>
          <p:cNvGraphicFramePr>
            <a:graphicFrameLocks noGrp="1"/>
          </p:cNvGraphicFramePr>
          <p:nvPr>
            <p:extLst>
              <p:ext uri="{D42A27DB-BD31-4B8C-83A1-F6EECF244321}">
                <p14:modId xmlns:p14="http://schemas.microsoft.com/office/powerpoint/2010/main" val="1579011935"/>
              </p:ext>
            </p:extLst>
          </p:nvPr>
        </p:nvGraphicFramePr>
        <p:xfrm>
          <a:off x="548640" y="1508760"/>
          <a:ext cx="7360920" cy="914400"/>
        </p:xfrm>
        <a:graphic>
          <a:graphicData uri="http://schemas.openxmlformats.org/drawingml/2006/table">
            <a:tbl>
              <a:tblPr/>
              <a:tblGrid>
                <a:gridCol w="3063240"/>
                <a:gridCol w="2331720"/>
                <a:gridCol w="1965960"/>
              </a:tblGrid>
              <a:tr h="384048">
                <a:tc>
                  <a:txBody>
                    <a:bodyPr/>
                    <a:lstStyle/>
                    <a:p>
                      <a:pPr indent="0" marL="0">
                        <a:buNone/>
                      </a:pPr>
                      <a:r>
                        <a:rPr lang="en-US" sz="1150" b="1" dirty="0">
                          <a:solidFill>
                            <a:schemeClr val="bg1"/>
                          </a:solidFill>
                          <a:latin typeface="Calibri" pitchFamily="34" charset="0"/>
                          <a:ea typeface="Calibri" pitchFamily="34" charset="-122"/>
                          <a:cs typeface="Calibri" pitchFamily="34" charset="-120"/>
                        </a:rPr>
                        <a:t>What we found</a:t>
                      </a:r>
                      <a:endParaRPr lang="en-US" sz="115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latin typeface="Calibri" pitchFamily="34" charset="0"/>
                          <a:ea typeface="Calibri" pitchFamily="34" charset="-122"/>
                          <a:cs typeface="Calibri" pitchFamily="34" charset="-120"/>
                        </a:rPr>
                        <a:t>Likely cause</a:t>
                      </a:r>
                      <a:endParaRPr lang="en-US" sz="115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latin typeface="Calibri" pitchFamily="34" charset="0"/>
                          <a:ea typeface="Calibri" pitchFamily="34" charset="-122"/>
                          <a:cs typeface="Calibri" pitchFamily="34" charset="-120"/>
                        </a:rPr>
                        <a:t>Next step</a:t>
                      </a:r>
                      <a:endParaRPr lang="en-US" sz="115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1"/>
                    </a:solidFill>
                  </a:tcPr>
                </a:tc>
              </a:tr>
              <a:tr h="804672">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Event classification is level with a keyword baseline (two rounds, 500 hand labels, one blind test)</a:t>
                      </a:r>
                      <a:endParaRPr lang="en-US" sz="110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100" dirty="0">
                          <a:solidFill>
                            <a:schemeClr val="tx2"/>
                          </a:solidFill>
                          <a:latin typeface="Calibri" pitchFamily="34" charset="0"/>
                          <a:ea typeface="Calibri" pitchFamily="34" charset="-122"/>
                          <a:cs typeface="Calibri" pitchFamily="34" charset="-120"/>
                        </a:rPr>
                        <a:t>Noisy headlines spread across 10 classes</a:t>
                      </a:r>
                      <a:endParaRPr lang="en-US" sz="110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100" b="1" dirty="0">
                          <a:solidFill>
                            <a:schemeClr val="accent4"/>
                          </a:solidFill>
                          <a:latin typeface="Calibri" pitchFamily="34" charset="0"/>
                          <a:ea typeface="Calibri" pitchFamily="34" charset="-122"/>
                          <a:cs typeface="Calibri" pitchFamily="34" charset="-120"/>
                        </a:rPr>
                        <a:t>Active-learning labels on live news</a:t>
                      </a:r>
                      <a:endParaRPr lang="en-US" sz="110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804672">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Market-wide impact does not predict SPY or VIX moves (ρ ≈ 0)</a:t>
                      </a:r>
                      <a:endParaRPr lang="en-US" sz="110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chemeClr val="tx2"/>
                          </a:solidFill>
                          <a:latin typeface="Calibri" pitchFamily="34" charset="0"/>
                          <a:ea typeface="Calibri" pitchFamily="34" charset="-122"/>
                          <a:cs typeface="Calibri" pitchFamily="34" charset="-120"/>
                        </a:rPr>
                        <a:t>The learned model covers companies only; market events use the formula</a:t>
                      </a:r>
                      <a:endParaRPr lang="en-US" sz="110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b="1" dirty="0">
                          <a:solidFill>
                            <a:schemeClr val="accent4"/>
                          </a:solidFill>
                          <a:latin typeface="Calibri" pitchFamily="34" charset="0"/>
                          <a:ea typeface="Calibri" pitchFamily="34" charset="-122"/>
                          <a:cs typeface="Calibri" pitchFamily="34" charset="-120"/>
                        </a:rPr>
                        <a:t>Train a market-level impact model on index moves</a:t>
                      </a:r>
                      <a:endParaRPr lang="en-US" sz="110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804672">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Oil underestimated after the invasion: +6.5% predicted vs +18.0% realised</a:t>
                      </a:r>
                      <a:endParaRPr lang="en-US" sz="110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100" dirty="0">
                          <a:solidFill>
                            <a:schemeClr val="tx2"/>
                          </a:solidFill>
                          <a:latin typeface="Calibri" pitchFamily="34" charset="0"/>
                          <a:ea typeface="Calibri" pitchFamily="34" charset="-122"/>
                          <a:cs typeface="Calibri" pitchFamily="34" charset="-120"/>
                        </a:rPr>
                        <a:t>Analogues mix risk-off with commodity-supply shocks</a:t>
                      </a:r>
                      <a:endParaRPr lang="en-US" sz="110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100" b="1" dirty="0">
                          <a:solidFill>
                            <a:schemeClr val="accent4"/>
                          </a:solidFill>
                          <a:latin typeface="Calibri" pitchFamily="34" charset="0"/>
                          <a:ea typeface="Calibri" pitchFamily="34" charset="-122"/>
                          <a:cs typeface="Calibri" pitchFamily="34" charset="-120"/>
                        </a:rPr>
                        <a:t>Separate supply-shock and risk-off scenarios</a:t>
                      </a:r>
                      <a:endParaRPr lang="en-US" sz="110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685800">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June 2022 FOMC hike missed</a:t>
                      </a:r>
                      <a:endParaRPr lang="en-US" sz="110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dirty="0">
                          <a:solidFill>
                            <a:schemeClr val="tx2"/>
                          </a:solidFill>
                          <a:latin typeface="Calibri" pitchFamily="34" charset="0"/>
                          <a:ea typeface="Calibri" pitchFamily="34" charset="-122"/>
                          <a:cs typeface="Calibri" pitchFamily="34" charset="-120"/>
                        </a:rPr>
                        <a:t>Scheduled events are priced in; the market rallied in relief</a:t>
                      </a:r>
                      <a:endParaRPr lang="en-US" sz="110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00" b="1" dirty="0">
                          <a:solidFill>
                            <a:schemeClr val="accent4"/>
                          </a:solidFill>
                          <a:latin typeface="Calibri" pitchFamily="34" charset="0"/>
                          <a:ea typeface="Calibri" pitchFamily="34" charset="-122"/>
                          <a:cs typeface="Calibri" pitchFamily="34" charset="-120"/>
                        </a:rPr>
                        <a:t>Surprise-vs-consensus measure for scheduled releases</a:t>
                      </a:r>
                      <a:endParaRPr lang="en-US" sz="110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685800">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Trigger precision against VIX / SPY stress days not yet measured</a:t>
                      </a:r>
                      <a:endParaRPr lang="en-US" sz="110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100" dirty="0">
                          <a:solidFill>
                            <a:schemeClr val="tx2"/>
                          </a:solidFill>
                          <a:latin typeface="Calibri" pitchFamily="34" charset="0"/>
                          <a:ea typeface="Calibri" pitchFamily="34" charset="-122"/>
                          <a:cs typeface="Calibri" pitchFamily="34" charset="-120"/>
                        </a:rPr>
                        <a:t>Not reached in this build</a:t>
                      </a:r>
                      <a:endParaRPr lang="en-US" sz="110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100" b="1" dirty="0">
                          <a:solidFill>
                            <a:schemeClr val="accent4"/>
                          </a:solidFill>
                          <a:latin typeface="Calibri" pitchFamily="34" charset="0"/>
                          <a:ea typeface="Calibri" pitchFamily="34" charset="-122"/>
                          <a:cs typeface="Calibri" pitchFamily="34" charset="-120"/>
                        </a:rPr>
                        <a:t>Validate triggers against market stress markers</a:t>
                      </a:r>
                      <a:endParaRPr lang="en-US" sz="1100" dirty="0">
                        <a:latin typeface="Calibri" charset="0"/>
                        <a:ea typeface="Calibri" charset="0"/>
                        <a:cs typeface="Calibri" charset="0"/>
                      </a:endParaRPr>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honesty-card"/>
          <p:cNvSpPr/>
          <p:nvPr/>
        </p:nvSpPr>
        <p:spPr>
          <a:xfrm>
            <a:off x="8183880" y="1508760"/>
            <a:ext cx="3456432" cy="4169664"/>
          </a:xfrm>
          <a:prstGeom prst="roundRect">
            <a:avLst>
              <a:gd name="adj" fmla="val 1587"/>
            </a:avLst>
          </a:prstGeom>
          <a:solidFill>
            <a:schemeClr val="tx1"/>
          </a:solidFill>
          <a:ln/>
        </p:spPr>
      </p:sp>
      <p:sp>
        <p:nvSpPr>
          <p:cNvPr id="6" name="Text 3"/>
          <p:cNvSpPr txBox="1"/>
          <p:nvPr/>
        </p:nvSpPr>
        <p:spPr>
          <a:xfrm>
            <a:off x="8412480" y="1719072"/>
            <a:ext cx="3017520" cy="256032"/>
          </a:xfrm>
          <a:prstGeom prst="rect">
            <a:avLst/>
          </a:prstGeom>
          <a:noFill/>
          <a:ln/>
        </p:spPr>
        <p:txBody>
          <a:bodyPr wrap="square" lIns="0" tIns="0" rIns="0" bIns="0" rtlCol="0" anchor="ctr"/>
          <a:lstStyle/>
          <a:p>
            <a:pPr indent="0" marL="0">
              <a:buNone/>
            </a:pPr>
            <a:r>
              <a:rPr lang="en-US" sz="1050" b="1" spc="150" kern="0" dirty="0">
                <a:solidFill>
                  <a:schemeClr val="accent2"/>
                </a:solidFill>
              </a:rPr>
              <a:t>HOW WE KEPT IT HONEST</a:t>
            </a:r>
            <a:endParaRPr lang="en-US" sz="1050" dirty="0"/>
          </a:p>
        </p:txBody>
      </p:sp>
      <p:sp>
        <p:nvSpPr>
          <p:cNvPr id="7" name="Text 4"/>
          <p:cNvSpPr txBox="1"/>
          <p:nvPr/>
        </p:nvSpPr>
        <p:spPr>
          <a:xfrm>
            <a:off x="8412480" y="2057400"/>
            <a:ext cx="3017520" cy="2331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bg1"/>
                </a:solidFill>
              </a:rPr>
              <a:t>500 human labels and 100 entity checks, labelled by the author</a:t>
            </a:r>
            <a:endParaRPr lang="en-US" sz="1200" dirty="0"/>
          </a:p>
          <a:p>
            <a:pPr marL="342900" indent="-342900">
              <a:spcAft>
                <a:spcPts val="600"/>
              </a:spcAft>
              <a:buSzPct val="100000"/>
              <a:buChar char="•"/>
            </a:pPr>
            <a:r>
              <a:rPr lang="en-US" sz="1200" dirty="0">
                <a:solidFill>
                  <a:schemeClr val="bg1"/>
                </a:solidFill>
              </a:rPr>
              <a:t>Decision rules pre-registered before each test</a:t>
            </a:r>
            <a:endParaRPr lang="en-US" sz="1200" dirty="0"/>
          </a:p>
          <a:p>
            <a:pPr marL="342900" indent="-342900">
              <a:spcAft>
                <a:spcPts val="600"/>
              </a:spcAft>
              <a:buSzPct val="100000"/>
              <a:buChar char="•"/>
            </a:pPr>
            <a:r>
              <a:rPr lang="en-US" sz="1200" dirty="0">
                <a:solidFill>
                  <a:schemeClr val="bg1"/>
                </a:solidFill>
              </a:rPr>
              <a:t>Every look at the 2021–22 test window logged</a:t>
            </a:r>
            <a:endParaRPr lang="en-US" sz="1200" dirty="0"/>
          </a:p>
          <a:p>
            <a:pPr marL="342900" indent="-342900">
              <a:spcAft>
                <a:spcPts val="600"/>
              </a:spcAft>
              <a:buSzPct val="100000"/>
              <a:buChar char="•"/>
            </a:pPr>
            <a:r>
              <a:rPr lang="en-US" sz="1200" dirty="0">
                <a:solidFill>
                  <a:schemeClr val="bg1"/>
                </a:solidFill>
              </a:rPr>
              <a:t>Weak results reported, not tuned away</a:t>
            </a:r>
            <a:endParaRPr lang="en-US" sz="1200" dirty="0"/>
          </a:p>
          <a:p>
            <a:pPr marL="342900" indent="-342900">
              <a:spcAft>
                <a:spcPts val="600"/>
              </a:spcAft>
              <a:buSzPct val="100000"/>
              <a:buChar char="•"/>
            </a:pPr>
            <a:r>
              <a:rPr lang="en-US" sz="1200" dirty="0">
                <a:solidFill>
                  <a:schemeClr val="bg1"/>
                </a:solidFill>
              </a:rPr>
              <a:t>Every design decision logged in DECISIONS.md</a:t>
            </a:r>
            <a:endParaRPr lang="en-US" sz="1200" dirty="0"/>
          </a:p>
        </p:txBody>
      </p:sp>
      <p:sp>
        <p:nvSpPr>
          <p:cNvPr id="8" name="Text 5"/>
          <p:cNvSpPr txBox="1"/>
          <p:nvPr/>
        </p:nvSpPr>
        <p:spPr>
          <a:xfrm>
            <a:off x="8412480" y="4343400"/>
            <a:ext cx="3017520" cy="1188720"/>
          </a:xfrm>
          <a:prstGeom prst="rect">
            <a:avLst/>
          </a:prstGeom>
          <a:noFill/>
          <a:ln/>
        </p:spPr>
        <p:txBody>
          <a:bodyPr wrap="square" lIns="0" tIns="0" rIns="0" bIns="0" rtlCol="0" anchor="t"/>
          <a:lstStyle/>
          <a:p>
            <a:pPr indent="0" marL="0">
              <a:buNone/>
            </a:pPr>
            <a:r>
              <a:rPr lang="en-US" sz="1500" i="1" dirty="0">
                <a:solidFill>
                  <a:schemeClr val="accent2"/>
                </a:solidFill>
                <a:latin typeface="Cambria" pitchFamily="34" charset="0"/>
                <a:ea typeface="Cambria" pitchFamily="34" charset="-122"/>
                <a:cs typeface="Cambria" pitchFamily="34" charset="-120"/>
              </a:rPr>
              <a:t>“We used 2022 to find where the method breaks, not to tune it until it looks right.”</a:t>
            </a:r>
            <a:endParaRPr lang="en-US" sz="15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RiskPulse">
  <a:themeElements>
    <a:clrScheme name="RiskPulse">
      <a:dk1>
        <a:srgbClr val="0B1F3A"/>
      </a:dk1>
      <a:lt1>
        <a:srgbClr val="FFFFFF"/>
      </a:lt1>
      <a:dk2>
        <a:srgbClr val="4A5568"/>
      </a:dk2>
      <a:lt2>
        <a:srgbClr val="F2F4F7"/>
      </a:lt2>
      <a:accent1>
        <a:srgbClr val="15325C"/>
      </a:accent1>
      <a:accent2>
        <a:srgbClr val="C27C0E"/>
      </a:accent2>
      <a:accent3>
        <a:srgbClr val="B42318"/>
      </a:accent3>
      <a:accent4>
        <a:srgbClr val="1E7B4F"/>
      </a:accent4>
      <a:accent5>
        <a:srgbClr val="8A94A6"/>
      </a:accent5>
      <a:accent6>
        <a:srgbClr val="D5DAE1"/>
      </a:accent6>
      <a:hlink>
        <a:srgbClr val="15325C"/>
      </a:hlink>
      <a:folHlink>
        <a:srgbClr val="5B6B82"/>
      </a:folHlink>
    </a:clrScheme>
    <a:fontScheme name="RiskPul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IIIT Dharwad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RiskPulse - Code to Connect 2026</dc:title>
  <dc:subject>PptxGenJS Presentation</dc:subject>
  <dc:creator>Arnav Gupta</dc:creator>
  <cp:lastModifiedBy>Arnav Gupta</cp:lastModifiedBy>
  <cp:revision>1</cp:revision>
  <dcterms:created xsi:type="dcterms:W3CDTF">2026-10-02T20:50:32Z</dcterms:created>
  <dcterms:modified xsi:type="dcterms:W3CDTF">2026-10-02T20:50:32Z</dcterms:modified>
</cp:coreProperties>
</file>